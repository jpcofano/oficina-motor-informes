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rchivo ExtraBold"/>
      <p:bold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Barlow Condensed"/>
      <p:regular r:id="rId22"/>
      <p:bold r:id="rId23"/>
      <p:italic r:id="rId24"/>
      <p:boldItalic r:id="rId25"/>
    </p:embeddedFont>
    <p:embeddedFont>
      <p:font typeface="Poppins Light"/>
      <p:regular r:id="rId26"/>
      <p:bold r:id="rId27"/>
      <p:italic r:id="rId28"/>
      <p:boldItalic r:id="rId29"/>
    </p:embeddedFont>
    <p:embeddedFont>
      <p:font typeface="Nunito Medium"/>
      <p:regular r:id="rId30"/>
      <p:bold r:id="rId31"/>
      <p:italic r:id="rId32"/>
      <p:boldItalic r:id="rId33"/>
    </p:embeddedFont>
    <p:embeddedFont>
      <p:font typeface="Poppins Thin"/>
      <p:regular r:id="rId34"/>
      <p:bold r:id="rId35"/>
      <p:italic r:id="rId36"/>
      <p:boldItalic r:id="rId37"/>
    </p:embeddedFont>
    <p:embeddedFont>
      <p:font typeface="Lexend"/>
      <p:regular r:id="rId38"/>
      <p:bold r:id="rId39"/>
    </p:embeddedFont>
    <p:embeddedFont>
      <p:font typeface="Poppins ExtraBold"/>
      <p:bold r:id="rId40"/>
      <p:boldItalic r:id="rId41"/>
    </p:embeddedFont>
    <p:embeddedFont>
      <p:font typeface="Archivo"/>
      <p:regular r:id="rId42"/>
      <p:bold r:id="rId43"/>
      <p:italic r:id="rId44"/>
      <p:boldItalic r:id="rId45"/>
    </p:embeddedFont>
    <p:embeddedFont>
      <p:font typeface="Archivo Black"/>
      <p:bold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5">
          <p15:clr>
            <a:srgbClr val="747775"/>
          </p15:clr>
        </p15:guide>
        <p15:guide id="2" orient="horz" pos="1170">
          <p15:clr>
            <a:srgbClr val="747775"/>
          </p15:clr>
        </p15:guide>
        <p15:guide id="3" orient="horz" pos="1399">
          <p15:clr>
            <a:srgbClr val="747775"/>
          </p15:clr>
        </p15:guide>
        <p15:guide id="4" pos="142">
          <p15:clr>
            <a:srgbClr val="747775"/>
          </p15:clr>
        </p15:guide>
        <p15:guide id="5" pos="5641">
          <p15:clr>
            <a:srgbClr val="747775"/>
          </p15:clr>
        </p15:guide>
        <p15:guide id="6" pos="2817">
          <p15:clr>
            <a:srgbClr val="747775"/>
          </p15:clr>
        </p15:guide>
        <p15:guide id="7" pos="2967">
          <p15:clr>
            <a:srgbClr val="747775"/>
          </p15:clr>
        </p15:guide>
        <p15:guide id="8" orient="horz" pos="3200">
          <p15:clr>
            <a:srgbClr val="747775"/>
          </p15:clr>
        </p15:guide>
        <p15:guide id="9" orient="horz" pos="916">
          <p15:clr>
            <a:srgbClr val="747775"/>
          </p15:clr>
        </p15:guide>
        <p15:guide id="10" orient="horz" pos="70">
          <p15:clr>
            <a:srgbClr val="747775"/>
          </p15:clr>
        </p15:guide>
        <p15:guide id="11" orient="horz" pos="14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8BEB29-5948-4BFC-8876-9CDC837CBFB6}">
  <a:tblStyle styleId="{798BEB29-5948-4BFC-8876-9CDC837CBF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5" orient="horz"/>
        <p:guide pos="1170" orient="horz"/>
        <p:guide pos="1399" orient="horz"/>
        <p:guide pos="142"/>
        <p:guide pos="5641"/>
        <p:guide pos="2817"/>
        <p:guide pos="2967"/>
        <p:guide pos="3200" orient="horz"/>
        <p:guide pos="916" orient="horz"/>
        <p:guide pos="70" orient="horz"/>
        <p:guide pos="1485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chivoExtraBold-bold.fntdata"/><Relationship Id="rId17" Type="http://schemas.openxmlformats.org/officeDocument/2006/relationships/font" Target="fonts/ArchivoExtraBold-boldItalic.fntdata"/><Relationship Id="rId18" Type="http://schemas.openxmlformats.org/officeDocument/2006/relationships/font" Target="fonts/Poppins-regular.fntdata"/><Relationship Id="rId19" Type="http://schemas.openxmlformats.org/officeDocument/2006/relationships/font" Target="fonts/Poppins-bold.fntdata"/><Relationship Id="rId20" Type="http://schemas.openxmlformats.org/officeDocument/2006/relationships/font" Target="fonts/Poppins-italic.fntdata"/><Relationship Id="rId21" Type="http://schemas.openxmlformats.org/officeDocument/2006/relationships/font" Target="fonts/Poppins-boldItalic.fntdata"/><Relationship Id="rId22" Type="http://schemas.openxmlformats.org/officeDocument/2006/relationships/font" Target="fonts/BarlowCondensed-regular.fntdata"/><Relationship Id="rId23" Type="http://schemas.openxmlformats.org/officeDocument/2006/relationships/font" Target="fonts/BarlowCondensed-bold.fntdata"/><Relationship Id="rId24" Type="http://schemas.openxmlformats.org/officeDocument/2006/relationships/font" Target="fonts/BarlowCondensed-italic.fntdata"/><Relationship Id="rId25" Type="http://schemas.openxmlformats.org/officeDocument/2006/relationships/font" Target="fonts/BarlowCondensed-boldItalic.fntdata"/><Relationship Id="rId26" Type="http://schemas.openxmlformats.org/officeDocument/2006/relationships/font" Target="fonts/PoppinsLight-regular.fntdata"/><Relationship Id="rId27" Type="http://schemas.openxmlformats.org/officeDocument/2006/relationships/font" Target="fonts/PoppinsLight-bold.fntdata"/><Relationship Id="rId28" Type="http://schemas.openxmlformats.org/officeDocument/2006/relationships/font" Target="fonts/PoppinsLight-italic.fntdata"/><Relationship Id="rId29" Type="http://schemas.openxmlformats.org/officeDocument/2006/relationships/font" Target="fonts/PoppinsLight-boldItalic.fntdata"/><Relationship Id="rId30" Type="http://schemas.openxmlformats.org/officeDocument/2006/relationships/font" Target="fonts/NunitoMedium-regular.fntdata"/><Relationship Id="rId31" Type="http://schemas.openxmlformats.org/officeDocument/2006/relationships/font" Target="fonts/NunitoMedium-bold.fntdata"/><Relationship Id="rId32" Type="http://schemas.openxmlformats.org/officeDocument/2006/relationships/font" Target="fonts/NunitoMedium-italic.fntdata"/><Relationship Id="rId33" Type="http://schemas.openxmlformats.org/officeDocument/2006/relationships/font" Target="fonts/NunitoMedium-boldItalic.fntdata"/><Relationship Id="rId34" Type="http://schemas.openxmlformats.org/officeDocument/2006/relationships/font" Target="fonts/PoppinsThin-regular.fntdata"/><Relationship Id="rId35" Type="http://schemas.openxmlformats.org/officeDocument/2006/relationships/font" Target="fonts/PoppinsThin-bold.fntdata"/><Relationship Id="rId36" Type="http://schemas.openxmlformats.org/officeDocument/2006/relationships/font" Target="fonts/PoppinsThin-italic.fntdata"/><Relationship Id="rId37" Type="http://schemas.openxmlformats.org/officeDocument/2006/relationships/font" Target="fonts/PoppinsThin-boldItalic.fntdata"/><Relationship Id="rId38" Type="http://schemas.openxmlformats.org/officeDocument/2006/relationships/font" Target="fonts/Lexend-regular.fntdata"/><Relationship Id="rId39" Type="http://schemas.openxmlformats.org/officeDocument/2006/relationships/font" Target="fonts/Lexend-bold.fntdata"/><Relationship Id="rId40" Type="http://schemas.openxmlformats.org/officeDocument/2006/relationships/font" Target="fonts/PoppinsExtraBold-bold.fntdata"/><Relationship Id="rId41" Type="http://schemas.openxmlformats.org/officeDocument/2006/relationships/font" Target="fonts/PoppinsExtraBold-boldItalic.fntdata"/><Relationship Id="rId42" Type="http://schemas.openxmlformats.org/officeDocument/2006/relationships/font" Target="fonts/Archivo-regular.fntdata"/><Relationship Id="rId43" Type="http://schemas.openxmlformats.org/officeDocument/2006/relationships/font" Target="fonts/Archivo-bold.fntdata"/><Relationship Id="rId44" Type="http://schemas.openxmlformats.org/officeDocument/2006/relationships/font" Target="fonts/Archivo-italic.fntdata"/><Relationship Id="rId45" Type="http://schemas.openxmlformats.org/officeDocument/2006/relationships/font" Target="fonts/Archivo-boldItalic.fntdata"/><Relationship Id="rId46" Type="http://schemas.openxmlformats.org/officeDocument/2006/relationships/font" Target="fonts/ArchivoBlack-bold.fntdata"/><Relationship Id="rId47" Type="http://schemas.openxmlformats.org/officeDocument/2006/relationships/font" Target="fonts/Archivo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130e5edd0_5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130e5edd0_5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55264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a55264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a55264f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9a55264f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37295dc18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37295dc18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36bd240a4_1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36bd240a4_1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32b36ebec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32b36ebec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509b04e1f_0_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f509b04e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Aclaración. La convocatoria salió por Programmatic, no compró rápidamente y cuando comenzó a comprar se dió de baja porque se habían alcanzado los inscriptos. 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En todas las demás convocatorias de uno a uno sale Meta + Programmatic (y en alguna ocasión Google también). 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8deffe212f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8deffe212f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77d5f06139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77d5f06139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0" name="Google Shape;60;p14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1" name="Google Shape;61;p14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6" name="Google Shape;66;p14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76" name="Google Shape;76;p15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84" name="Google Shape;84;p15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15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137" name="Google Shape;137;p16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147" name="Google Shape;147;p1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166" name="Google Shape;166;p2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170" name="Google Shape;170;p21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1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Seguimiento </a:t>
            </a:r>
            <a:r>
              <a:rPr lang="es" sz="800">
                <a:solidFill>
                  <a:srgbClr val="434343"/>
                </a:solidFill>
                <a:latin typeface="Archivo"/>
                <a:ea typeface="Archivo"/>
                <a:cs typeface="Archivo"/>
                <a:sym typeface="Archivo"/>
              </a:rPr>
              <a:t>| 16-05</a:t>
            </a:r>
            <a:endParaRPr sz="800">
              <a:solidFill>
                <a:srgbClr val="43434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434343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/>
        </p:nvSpPr>
        <p:spPr>
          <a:xfrm>
            <a:off x="1012979" y="2873056"/>
            <a:ext cx="40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 u="none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{{periodo}}</a:t>
            </a: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>
              <a:solidFill>
                <a:srgbClr val="8DE2D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503549" y="103177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- JM</a:t>
            </a:r>
            <a:r>
              <a:rPr lang="es" sz="2400" b="0" u="non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 ·  {{periodo}}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{{mail_envios}}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189" name="Google Shape;189;p23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{{imp_google}}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{{imp_prog}}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93" name="Google Shape;193;p23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94" name="Google Shape;194;p23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23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197" name="Google Shape;197;p23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199" name="Google Shape;199;p23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200" name="Google Shape;200;p23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201" name="Google Shape;201;p23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202" name="Google Shape;202;p23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203" name="Google Shape;203;p23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 u="none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{{contenidos_total}}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{{pauta_meta}}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{{pauta_google}}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{{pauta_prog}}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12" name="Google Shape;212;p23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4" name="Google Shape;214;p23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 u="none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{{imp_total}}</a:t>
            </a:r>
            <a:endParaRPr b="1" sz="1777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{{frecuencia}}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17" name="Google Shape;217;p23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3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9" name="Google Shape;219;p23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221" name="Google Shape;221;p23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25" name="Google Shape;225;p23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6" name="Google Shape;226;p23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{{mail_entregados}}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{{mail_aperturas}} ({{mail_or}}%)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28" name="Google Shape;228;p23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9" name="Google Shape;229;p23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{{cc_campanias}}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6947250" y="2090637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{{cc_base}}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{{cc_contactados}} ({{cc_contact_pct}}%)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33" name="Google Shape;233;p23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34" name="Google Shape;234;p23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235" name="Google Shape;235;p23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23"/>
          <p:cNvSpPr/>
          <p:nvPr/>
        </p:nvSpPr>
        <p:spPr>
          <a:xfrm>
            <a:off x="5854525" y="3554722"/>
            <a:ext cx="1840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 u="sng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{{ivr_campanias}}  campañas de IVR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56218" y="3964561"/>
            <a:ext cx="1840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Llamados realizados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{{ivr_llamados}}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5996585" y="4662879"/>
            <a:ext cx="15600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Atendidos</a:t>
            </a:r>
            <a:r>
              <a:rPr lang="es" sz="551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endParaRPr sz="551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2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{{ivr_atendidos}} ({{ivr_at_pct}}%)</a:t>
            </a:r>
            <a:endParaRPr b="1" sz="1022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601765" y="3373117"/>
            <a:ext cx="3627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241" name="Google Shape;241;p23"/>
          <p:cNvCxnSpPr/>
          <p:nvPr/>
        </p:nvCxnSpPr>
        <p:spPr>
          <a:xfrm flipH="1" rot="10800000">
            <a:off x="5996581" y="4539353"/>
            <a:ext cx="1556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242" name="Google Shape;242;p23" title="llam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935" y="3441432"/>
            <a:ext cx="199450" cy="1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{{imp_meta}}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3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 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- GCBA</a:t>
            </a:r>
            <a:r>
              <a:rPr lang="es" sz="2400" b="0" u="non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 ·  {{periodo}}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{{gcba_cc_campanias}} campañas 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{{gcba_contenidos_total}}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{{gcba_pauta_meta}}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{{gcba_pauta_google}}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{{gcba_pauta_prog}}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62" name="Google Shape;262;p24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4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4" name="Google Shape;264;p24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20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{{gcba_imp_total}}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{{gcba_frecuencia}}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67" name="Google Shape;267;p24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4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9" name="Google Shape;269;p24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{{gcba_imp_google}}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6947250" y="2090651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{{gcba_cc_base}}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273" name="Google Shape;273;p24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74" name="Google Shape;274;p24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{{gcba_imp_prog}}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76" name="Google Shape;276;p24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77" name="Google Shape;277;p24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" name="Google Shape;278;p24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279" name="Google Shape;279;p24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24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4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285" name="Google Shape;285;p24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286" name="Google Shape;286;p24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288" name="Google Shape;288;p24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289" name="Google Shape;289;p24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290" name="Google Shape;290;p24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291" name="Google Shape;291;p24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292" name="Google Shape;292;p24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24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 u="sng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{{gcba_mail_envios}}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298" name="Google Shape;298;p24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9" name="Google Shape;299;p24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0" name="Google Shape;300;p24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{{gcba_mail_entregados}}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{{gcba_mail_aperturas}} ({{gcba_mail_or}}%)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02" name="Google Shape;302;p24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3" name="Google Shape;303;p24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{{gcba_cc_contactados}} ({{gcba_cc_contact_pct}}%)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5854525" y="3554722"/>
            <a:ext cx="1840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 u="none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{{gcba_sms_envios}}  envíos de SMS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856218" y="3964561"/>
            <a:ext cx="1840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SMS entregados: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 u="none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{{gcba_sms_entregados}}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601765" y="3373117"/>
            <a:ext cx="3627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307" name="Google Shape;307;p24"/>
          <p:cNvCxnSpPr/>
          <p:nvPr/>
        </p:nvCxnSpPr>
        <p:spPr>
          <a:xfrm flipH="1" rot="10800000">
            <a:off x="5996581" y="4539353"/>
            <a:ext cx="1556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308" name="Google Shape;308;p24" title="char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6639" y="3441435"/>
            <a:ext cx="199450" cy="1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 u="sng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{{gcba_imp_meta}}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24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5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25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323" name="Google Shape;323;p25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5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Encuentros con vecinos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/>
          <p:nvPr/>
        </p:nvSpPr>
        <p:spPr>
          <a:xfrm>
            <a:off x="523499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Encuentros con vecinos</a:t>
            </a:r>
            <a:r>
              <a:rPr b="1" lang="es" sz="1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7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alcance semanal por herramienta</a:t>
            </a:r>
            <a:r>
              <a:rPr lang="es" sz="1700" b="0" u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 ·  {{periodo}}</a:t>
            </a:r>
            <a:endParaRPr b="1" sz="18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33" name="Google Shape;333;p26"/>
          <p:cNvGrpSpPr/>
          <p:nvPr/>
        </p:nvGrpSpPr>
        <p:grpSpPr>
          <a:xfrm>
            <a:off x="191374" y="191118"/>
            <a:ext cx="217624" cy="217189"/>
            <a:chOff x="11899863" y="7646238"/>
            <a:chExt cx="563500" cy="562375"/>
          </a:xfrm>
        </p:grpSpPr>
        <p:sp>
          <p:nvSpPr>
            <p:cNvPr id="334" name="Google Shape;334;p26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6"/>
          <p:cNvSpPr/>
          <p:nvPr/>
        </p:nvSpPr>
        <p:spPr>
          <a:xfrm>
            <a:off x="360750" y="6607203"/>
            <a:ext cx="8423100" cy="2184000"/>
          </a:xfrm>
          <a:prstGeom prst="round2SameRect">
            <a:avLst>
              <a:gd fmla="val 0" name="adj1"/>
              <a:gd fmla="val 10858" name="adj2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37" name="Google Shape;337;p26"/>
          <p:cNvCxnSpPr/>
          <p:nvPr/>
        </p:nvCxnSpPr>
        <p:spPr>
          <a:xfrm>
            <a:off x="6586875" y="1541627"/>
            <a:ext cx="0" cy="2652600"/>
          </a:xfrm>
          <a:prstGeom prst="straightConnector1">
            <a:avLst/>
          </a:prstGeom>
          <a:noFill/>
          <a:ln cap="flat" cmpd="sng" w="1077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26"/>
          <p:cNvSpPr/>
          <p:nvPr/>
        </p:nvSpPr>
        <p:spPr>
          <a:xfrm>
            <a:off x="512471" y="1450919"/>
            <a:ext cx="5439900" cy="840600"/>
          </a:xfrm>
          <a:prstGeom prst="roundRect">
            <a:avLst>
              <a:gd fmla="val 33305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99025" spcFirstLastPara="1" rIns="99025" wrap="square" tIns="0">
            <a:noAutofit/>
          </a:bodyPr>
          <a:lstStyle/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{{ecv_insc_mail}}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({{ecv_insc_mail_pct}}%)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{{ecv_insc_digital}}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({{ecv_insc_digital_pct}}%)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Call Center</a:t>
            </a: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{{ecv_insc_cc}}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({{ecv_insc_cc_pct}}%)</a:t>
            </a:r>
            <a:endParaRPr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8237" lvl="0" marL="187154" marR="16996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E1D5"/>
              </a:buClr>
              <a:buSzPts val="1018"/>
              <a:buFont typeface="Archivo"/>
              <a:buChar char="●"/>
            </a:pPr>
            <a:r>
              <a:rPr b="1" lang="es" sz="101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Difusión: 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{{ecv_insc_dif}}</a:t>
            </a:r>
            <a:r>
              <a:rPr lang="es" sz="1018" u="none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({{ecv_insc_dif_pct}}%)</a:t>
            </a:r>
            <a:endParaRPr b="1"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1671123" y="1450925"/>
            <a:ext cx="9327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INSCRIPTOS:</a:t>
            </a:r>
            <a:endParaRPr b="1" i="1" sz="1041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2829754" y="1450925"/>
            <a:ext cx="10095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ASISTENTES</a:t>
            </a: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endParaRPr i="1" sz="1041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3167193" y="1529030"/>
            <a:ext cx="350808" cy="204293"/>
            <a:chOff x="5743198" y="1745389"/>
            <a:chExt cx="650608" cy="378881"/>
          </a:xfrm>
        </p:grpSpPr>
        <p:sp>
          <p:nvSpPr>
            <p:cNvPr id="342" name="Google Shape;342;p26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49475" lIns="99025" spcFirstLastPara="1" rIns="99025" wrap="square" tIns="49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41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6"/>
          <p:cNvSpPr/>
          <p:nvPr/>
        </p:nvSpPr>
        <p:spPr>
          <a:xfrm>
            <a:off x="1671122" y="2041558"/>
            <a:ext cx="9327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 u="non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2037696" y="1493082"/>
            <a:ext cx="281400" cy="248908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9475" lIns="99025" spcFirstLastPara="1" rIns="99025" wrap="square" tIns="49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1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2819752" y="2041558"/>
            <a:ext cx="10095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 u="non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{{ecv_asistentes}}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512490" y="1451420"/>
            <a:ext cx="932700" cy="6003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3546"/>
          </a:solidFill>
          <a:ln>
            <a:noFill/>
          </a:ln>
        </p:spPr>
        <p:txBody>
          <a:bodyPr anchorCtr="0" anchor="t" bIns="99025" lIns="0" spcFirstLastPara="1" rIns="0" wrap="square" tIns="347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041">
                <a:solidFill>
                  <a:srgbClr val="8DE2D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ENCUENTROS:</a:t>
            </a:r>
            <a:endParaRPr b="1" i="1" sz="1041">
              <a:solidFill>
                <a:srgbClr val="8DE2D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512489" y="2042053"/>
            <a:ext cx="932700" cy="249000"/>
          </a:xfrm>
          <a:prstGeom prst="round2SameRect">
            <a:avLst>
              <a:gd fmla="val 0" name="adj1"/>
              <a:gd fmla="val 8500" name="adj2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9025" lIns="99025" spcFirstLastPara="1" rIns="99025" wrap="square" tIns="99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41" u="none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{{ecv_encuentros}}</a:t>
            </a:r>
            <a:endParaRPr b="1" sz="1041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879063" y="1493576"/>
            <a:ext cx="281400" cy="248908"/>
          </a:xfrm>
          <a:custGeom>
            <a:rect b="b" l="l" r="r" t="t"/>
            <a:pathLst>
              <a:path extrusionOk="0" h="746" w="838">
                <a:moveTo>
                  <a:pt x="419" y="525"/>
                </a:moveTo>
                <a:cubicBezTo>
                  <a:pt x="325" y="525"/>
                  <a:pt x="248" y="449"/>
                  <a:pt x="248" y="354"/>
                </a:cubicBezTo>
                <a:cubicBezTo>
                  <a:pt x="248" y="260"/>
                  <a:pt x="325" y="184"/>
                  <a:pt x="419" y="184"/>
                </a:cubicBezTo>
                <a:cubicBezTo>
                  <a:pt x="513" y="184"/>
                  <a:pt x="590" y="260"/>
                  <a:pt x="590" y="354"/>
                </a:cubicBezTo>
                <a:cubicBezTo>
                  <a:pt x="590" y="449"/>
                  <a:pt x="513" y="525"/>
                  <a:pt x="419" y="525"/>
                </a:cubicBezTo>
                <a:moveTo>
                  <a:pt x="838" y="419"/>
                </a:moveTo>
                <a:cubicBezTo>
                  <a:pt x="838" y="188"/>
                  <a:pt x="651" y="0"/>
                  <a:pt x="419" y="0"/>
                </a:cubicBezTo>
                <a:cubicBezTo>
                  <a:pt x="187" y="0"/>
                  <a:pt x="0" y="188"/>
                  <a:pt x="0" y="419"/>
                </a:cubicBezTo>
                <a:cubicBezTo>
                  <a:pt x="0" y="551"/>
                  <a:pt x="61" y="669"/>
                  <a:pt x="157" y="746"/>
                </a:cubicBezTo>
                <a:cubicBezTo>
                  <a:pt x="196" y="639"/>
                  <a:pt x="298" y="562"/>
                  <a:pt x="419" y="562"/>
                </a:cubicBezTo>
                <a:cubicBezTo>
                  <a:pt x="540" y="562"/>
                  <a:pt x="642" y="639"/>
                  <a:pt x="681" y="746"/>
                </a:cubicBezTo>
                <a:cubicBezTo>
                  <a:pt x="777" y="669"/>
                  <a:pt x="838" y="551"/>
                  <a:pt x="838" y="419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ctr" bIns="49475" lIns="99025" spcFirstLastPara="1" rIns="99025" wrap="square" tIns="49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41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1895623" y="3094159"/>
            <a:ext cx="14550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latin typeface="Archivo"/>
                <a:ea typeface="Archivo"/>
                <a:cs typeface="Archivo"/>
                <a:sym typeface="Archivo"/>
              </a:rPr>
              <a:t>{{mail_aperturas}}</a:t>
            </a:r>
            <a:r>
              <a:rPr b="1" lang="es" sz="1018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18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({{mail_or}}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1895623" y="3094148"/>
            <a:ext cx="1455000" cy="2145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158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6" name="Google Shape;356;p26"/>
          <p:cNvGrpSpPr/>
          <p:nvPr/>
        </p:nvGrpSpPr>
        <p:grpSpPr>
          <a:xfrm>
            <a:off x="3141254" y="3146687"/>
            <a:ext cx="146481" cy="109565"/>
            <a:chOff x="11542348" y="3083222"/>
            <a:chExt cx="361681" cy="274875"/>
          </a:xfrm>
        </p:grpSpPr>
        <p:sp>
          <p:nvSpPr>
            <p:cNvPr id="357" name="Google Shape;357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59" name="Google Shape;359;p26"/>
          <p:cNvSpPr/>
          <p:nvPr/>
        </p:nvSpPr>
        <p:spPr>
          <a:xfrm>
            <a:off x="3429498" y="3090029"/>
            <a:ext cx="1526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{{cc_contactados}} </a:t>
            </a:r>
            <a:r>
              <a:rPr b="1" lang="es" sz="1018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({{cc_contact_pct}}%)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3429498" y="3090019"/>
            <a:ext cx="1526100" cy="2145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Contactados</a:t>
            </a:r>
            <a:endParaRPr b="1" sz="79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1" name="Google Shape;361;p26"/>
          <p:cNvGrpSpPr/>
          <p:nvPr/>
        </p:nvGrpSpPr>
        <p:grpSpPr>
          <a:xfrm>
            <a:off x="4814213" y="3127167"/>
            <a:ext cx="111878" cy="140282"/>
            <a:chOff x="3731750" y="3001050"/>
            <a:chExt cx="1526300" cy="1940275"/>
          </a:xfrm>
        </p:grpSpPr>
        <p:sp>
          <p:nvSpPr>
            <p:cNvPr id="362" name="Google Shape;362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26"/>
          <p:cNvSpPr/>
          <p:nvPr/>
        </p:nvSpPr>
        <p:spPr>
          <a:xfrm>
            <a:off x="5014313" y="3099133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{{ivr_75}} </a:t>
            </a:r>
            <a:r>
              <a:rPr b="1" lang="es" sz="1018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({{ivr_75_pct}}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1018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1018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5014313" y="3085748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Escucharon</a:t>
            </a:r>
            <a:r>
              <a:rPr b="1" lang="es" sz="905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+75%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5014313" y="3659118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135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5014313" y="3645732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1895623" y="2534891"/>
            <a:ext cx="14550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{{mail_entregados}}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1895623" y="2534880"/>
            <a:ext cx="1455000" cy="2145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1584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70" name="Google Shape;370;p26"/>
          <p:cNvGrpSpPr/>
          <p:nvPr/>
        </p:nvGrpSpPr>
        <p:grpSpPr>
          <a:xfrm>
            <a:off x="3141254" y="2587419"/>
            <a:ext cx="146481" cy="109565"/>
            <a:chOff x="11542348" y="3083222"/>
            <a:chExt cx="361681" cy="274875"/>
          </a:xfrm>
        </p:grpSpPr>
        <p:sp>
          <p:nvSpPr>
            <p:cNvPr id="371" name="Google Shape;371;p26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7575" lIns="15150" spcFirstLastPara="1" rIns="15150" wrap="square" tIns="7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65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73" name="Google Shape;373;p26"/>
          <p:cNvSpPr/>
          <p:nvPr/>
        </p:nvSpPr>
        <p:spPr>
          <a:xfrm>
            <a:off x="3429498" y="2530761"/>
            <a:ext cx="1526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{{cc_base}}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3429498" y="2530751"/>
            <a:ext cx="1526100" cy="2145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Base </a:t>
            </a:r>
            <a:r>
              <a:rPr b="1" lang="es" sz="79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llamada</a:t>
            </a:r>
            <a:endParaRPr b="1" sz="79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4814213" y="2567899"/>
            <a:ext cx="111878" cy="140282"/>
            <a:chOff x="3731750" y="3001050"/>
            <a:chExt cx="1526300" cy="1940275"/>
          </a:xfrm>
        </p:grpSpPr>
        <p:sp>
          <p:nvSpPr>
            <p:cNvPr id="376" name="Google Shape;376;p26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0350" lIns="70350" spcFirstLastPara="1" rIns="70350" wrap="square" tIns="70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6"/>
          <p:cNvSpPr/>
          <p:nvPr/>
        </p:nvSpPr>
        <p:spPr>
          <a:xfrm>
            <a:off x="5014313" y="2539865"/>
            <a:ext cx="13851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{{ivr_atendidos}}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5"/>
              <a:buFont typeface="Arial"/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5014313" y="2526480"/>
            <a:ext cx="1385100" cy="2145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905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2085306" y="765588"/>
            <a:ext cx="2514600" cy="5376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65575" lIns="65575" spcFirstLastPara="1" rIns="65575" wrap="square" tIns="65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9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  semanal JM </a:t>
            </a:r>
            <a:endParaRPr b="1" sz="1409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96" u="non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ECVs del {{periodo}}</a:t>
            </a:r>
            <a:endParaRPr sz="1296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225300" y="3099167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{{clics}}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225300" y="3085782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b="1" sz="158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225300" y="2539880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{{imp_total}}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225300" y="2539870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90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225300" y="3702644"/>
            <a:ext cx="1591500" cy="4950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03425" spcFirstLastPara="1" rIns="103425" wrap="square" tIns="26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45"/>
              <a:buFont typeface="Arial"/>
              <a:buNone/>
            </a:pPr>
            <a:r>
              <a:rPr b="1" lang="es" sz="1018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{{alcance}}</a:t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1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225300" y="3689259"/>
            <a:ext cx="1591500" cy="2145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103425" lIns="103425" spcFirstLastPara="1" rIns="103425" wrap="square" tIns="103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*Audiencia Alcanzada</a:t>
            </a:r>
            <a:endParaRPr b="1" sz="1584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387" name="Google Shape;387;p26"/>
          <p:cNvGraphicFramePr/>
          <p:nvPr/>
        </p:nvGraphicFramePr>
        <p:xfrm>
          <a:off x="6774326" y="1676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{798BEB29-5948-4BFC-8876-9CDC837CBFB6}</a:tableStyleId>
              </a:tblPr>
              <a:tblGrid>
                <a:gridCol w="2150400"/>
              </a:tblGrid>
              <a:tr h="538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impactados</a:t>
                      </a:r>
                      <a:r>
                        <a:rPr b="1" lang="es" sz="1200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: </a:t>
                      </a:r>
                      <a:r>
                        <a:rPr lang="es" sz="1200" u="none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{{ecv_barrios}}</a:t>
                      </a:r>
                      <a:endParaRPr sz="1200">
                        <a:solidFill>
                          <a:srgbClr val="8DE2D6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546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{{ecv_barrio1}}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{{ecv_barrio2}}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{{ecv_barrio3}}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26"/>
          <p:cNvSpPr txBox="1"/>
          <p:nvPr/>
        </p:nvSpPr>
        <p:spPr>
          <a:xfrm>
            <a:off x="248800" y="4349626"/>
            <a:ext cx="78207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800" u="sng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*Audiencia Alcanzada</a:t>
            </a:r>
            <a:r>
              <a:rPr i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:</a:t>
            </a:r>
            <a:r>
              <a:rPr b="1" lang="es" sz="800">
                <a:solidFill>
                  <a:srgbClr val="595959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Es la cantidad de </a:t>
            </a:r>
            <a:r>
              <a:rPr b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personas únicas que vieron el anuncio al menos una vez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Este número corresponde al total unificado de todas las EDVs de la semana, extraído exclusivamente desde la plataforma. Una misma persona que haya visto distintos anuncios o estrategias dentro de la misma campaña (o en varias) se contabiliza co</a:t>
            </a:r>
            <a:r>
              <a:rPr lang="es" sz="800">
                <a:latin typeface="Archivo"/>
                <a:ea typeface="Archivo"/>
                <a:cs typeface="Archivo"/>
                <a:sym typeface="Archivo"/>
              </a:rPr>
              <a:t>mo una</a:t>
            </a:r>
            <a:r>
              <a:rPr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. De esta manera, el dato consolidado evita duplicaciones y refleja un alcance real sin sobreestimaciones.</a:t>
            </a:r>
            <a:endParaRPr sz="8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27"/>
          <p:cNvGrpSpPr/>
          <p:nvPr/>
        </p:nvGrpSpPr>
        <p:grpSpPr>
          <a:xfrm>
            <a:off x="563725" y="691510"/>
            <a:ext cx="1933424" cy="3436679"/>
            <a:chOff x="500000" y="241213"/>
            <a:chExt cx="2676761" cy="4757966"/>
          </a:xfrm>
        </p:grpSpPr>
        <p:sp>
          <p:nvSpPr>
            <p:cNvPr id="394" name="Google Shape;394;p27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9" name="Google Shape;429;p27"/>
          <p:cNvCxnSpPr/>
          <p:nvPr/>
        </p:nvCxnSpPr>
        <p:spPr>
          <a:xfrm rot="10800000">
            <a:off x="291888" y="2113000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27"/>
          <p:cNvSpPr txBox="1"/>
          <p:nvPr/>
        </p:nvSpPr>
        <p:spPr>
          <a:xfrm>
            <a:off x="291900" y="4248675"/>
            <a:ext cx="27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 JM: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Call Center: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Contactabilidad: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25%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Efectividad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75%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594200" y="147150"/>
            <a:ext cx="7717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non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Estrategia de comunicación:{{ecv_barrio}}</a:t>
            </a:r>
            <a:r>
              <a:rPr b="0" lang="es" sz="1800" u="non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 ·  {{periodo}}</a:t>
            </a:r>
            <a:endParaRPr b="1" sz="18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32" name="Google Shape;432;p27"/>
          <p:cNvGrpSpPr/>
          <p:nvPr/>
        </p:nvGrpSpPr>
        <p:grpSpPr>
          <a:xfrm>
            <a:off x="262075" y="191118"/>
            <a:ext cx="217624" cy="217189"/>
            <a:chOff x="11899863" y="7646238"/>
            <a:chExt cx="563500" cy="562375"/>
          </a:xfrm>
        </p:grpSpPr>
        <p:sp>
          <p:nvSpPr>
            <p:cNvPr id="433" name="Google Shape;433;p27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5" name="Google Shape;435;p27"/>
          <p:cNvCxnSpPr/>
          <p:nvPr/>
        </p:nvCxnSpPr>
        <p:spPr>
          <a:xfrm flipH="1" rot="10800000">
            <a:off x="1575600" y="1570631"/>
            <a:ext cx="5792400" cy="51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436" name="Google Shape;436;p27"/>
          <p:cNvCxnSpPr/>
          <p:nvPr/>
        </p:nvCxnSpPr>
        <p:spPr>
          <a:xfrm>
            <a:off x="1815417" y="3162721"/>
            <a:ext cx="5790000" cy="12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437" name="Google Shape;437;p27"/>
          <p:cNvGrpSpPr/>
          <p:nvPr/>
        </p:nvGrpSpPr>
        <p:grpSpPr>
          <a:xfrm>
            <a:off x="563725" y="691510"/>
            <a:ext cx="1933424" cy="3436679"/>
            <a:chOff x="500000" y="241213"/>
            <a:chExt cx="2676761" cy="4757966"/>
          </a:xfrm>
        </p:grpSpPr>
        <p:sp>
          <p:nvSpPr>
            <p:cNvPr id="438" name="Google Shape;438;p27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7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7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7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7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7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7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7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7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7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3" name="Google Shape;473;p27"/>
          <p:cNvSpPr/>
          <p:nvPr/>
        </p:nvSpPr>
        <p:spPr>
          <a:xfrm>
            <a:off x="3475639" y="1644477"/>
            <a:ext cx="4385100" cy="2295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(a cuántas personas realmente llegamos)</a:t>
            </a:r>
            <a:endParaRPr sz="82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3477957" y="3212455"/>
            <a:ext cx="4385100" cy="2295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Alcances objetivo </a:t>
            </a:r>
            <a:r>
              <a:rPr lang="es" sz="828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sz="828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75" name="Google Shape;475;p27"/>
          <p:cNvCxnSpPr/>
          <p:nvPr/>
        </p:nvCxnSpPr>
        <p:spPr>
          <a:xfrm rot="10800000">
            <a:off x="291888" y="2113000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27"/>
          <p:cNvSpPr/>
          <p:nvPr/>
        </p:nvSpPr>
        <p:spPr>
          <a:xfrm>
            <a:off x="3475650" y="748875"/>
            <a:ext cx="29649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11600">
            <a:noAutofit/>
          </a:bodyPr>
          <a:lstStyle/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{{ecv_insc_mail}}</a:t>
            </a:r>
            <a:endParaRPr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Center: {{ecv_insc_cc}}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Difusión</a:t>
            </a:r>
            <a:r>
              <a:rPr b="1" lang="es" sz="92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:{{ecv_insc_dif}}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{{ecv_insc_digital}}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3475650" y="749091"/>
            <a:ext cx="1422600" cy="752700"/>
          </a:xfrm>
          <a:prstGeom prst="roundRect">
            <a:avLst>
              <a:gd fmla="val 989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{{ecv_inscriptos}}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3568220" y="1013103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3943156" y="903159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sp>
        <p:nvSpPr>
          <p:cNvPr id="480" name="Google Shape;480;p27"/>
          <p:cNvSpPr/>
          <p:nvPr/>
        </p:nvSpPr>
        <p:spPr>
          <a:xfrm>
            <a:off x="4841829" y="2101267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{{enc_clics}}</a:t>
            </a:r>
            <a:r>
              <a:rPr b="1" lang="es" sz="900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({{enc_ctor}}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4841831" y="1948140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4841829" y="2490280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{{enc_aperturas}}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 u="sng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({{enc_or}}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FBAB04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FBAB0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4841831" y="2337279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7224971" y="2093074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{{enc_ll_efectivos}} </a:t>
            </a:r>
            <a:r>
              <a:rPr b="1" lang="es" sz="900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({{enc_ll_efectivos_pct}}%)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7224965" y="1933944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Efectivos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7224971" y="2490280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{{enc_ll_contactados}} </a:t>
            </a:r>
            <a:r>
              <a:rPr b="1" lang="es" sz="900" u="sng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({{enc_ll_contactados_pct}}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7224965" y="2323083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7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Llamados Contactados</a:t>
            </a:r>
            <a:endParaRPr b="1" sz="57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4842700" y="3685900"/>
            <a:ext cx="10647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{{enc_mails_entregados}}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842706" y="3524124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6440500" y="748875"/>
            <a:ext cx="1422600" cy="753000"/>
          </a:xfrm>
          <a:prstGeom prst="roundRect">
            <a:avLst>
              <a:gd fmla="val 989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 u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{{ecv_asistentes}}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6908017" y="833682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grpSp>
        <p:nvGrpSpPr>
          <p:cNvPr id="492" name="Google Shape;492;p27"/>
          <p:cNvGrpSpPr/>
          <p:nvPr/>
        </p:nvGrpSpPr>
        <p:grpSpPr>
          <a:xfrm>
            <a:off x="6556706" y="1022170"/>
            <a:ext cx="255688" cy="206746"/>
            <a:chOff x="10290013" y="6822988"/>
            <a:chExt cx="649450" cy="470625"/>
          </a:xfrm>
        </p:grpSpPr>
        <p:sp>
          <p:nvSpPr>
            <p:cNvPr id="493" name="Google Shape;493;p27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7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27"/>
          <p:cNvSpPr/>
          <p:nvPr/>
        </p:nvSpPr>
        <p:spPr>
          <a:xfrm>
            <a:off x="3443100" y="2101267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latin typeface="Archivo"/>
                <a:ea typeface="Archivo"/>
                <a:cs typeface="Archivo"/>
                <a:sym typeface="Archivo"/>
              </a:rPr>
              <a:t>{{enc_audiencia}} </a:t>
            </a:r>
            <a:r>
              <a:rPr b="1" lang="es" sz="900" u="sng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({{enc_audiencia_pct}}%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3443106" y="1948140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Audiencia Alcanzada</a:t>
            </a:r>
            <a:endParaRPr b="1"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3443100" y="2490280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latin typeface="Archivo"/>
                <a:ea typeface="Archivo"/>
                <a:cs typeface="Archivo"/>
                <a:sym typeface="Archivo"/>
              </a:rPr>
              <a:t>{{enc_impresiones}}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3443106" y="2337279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7226800" y="4079098"/>
            <a:ext cx="1116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{{enc_bbdd}}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7226799" y="3920646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BBDD Teléfonos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7229074" y="3678675"/>
            <a:ext cx="11166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{{enc_base_llamada}}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7226799" y="3524124"/>
            <a:ext cx="1116600" cy="1569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3443100" y="3673504"/>
            <a:ext cx="1239600" cy="2295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latin typeface="Archivo"/>
                <a:ea typeface="Archivo"/>
                <a:cs typeface="Archivo"/>
                <a:sym typeface="Archivo"/>
              </a:rPr>
              <a:t>{{enc_alcance_potencial}}</a:t>
            </a:r>
            <a:endParaRPr b="1" sz="9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3443106" y="3524124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Alcance Potencial</a:t>
            </a:r>
            <a:endParaRPr b="1" sz="662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3436850" y="4079222"/>
            <a:ext cx="12396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 u="none">
                <a:latin typeface="Archivo"/>
                <a:ea typeface="Archivo"/>
                <a:cs typeface="Archivo"/>
                <a:sym typeface="Archivo"/>
              </a:rPr>
              <a:t>{{ecv_poblacion}}</a:t>
            </a:r>
            <a:endParaRPr b="1" sz="9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3436860" y="3920646"/>
            <a:ext cx="1239600" cy="156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Habitantes del</a:t>
            </a:r>
            <a:r>
              <a:rPr b="1" lang="es" sz="662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Barrio</a:t>
            </a:r>
            <a:endParaRPr b="1" sz="115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6064976" y="3685900"/>
            <a:ext cx="1013400" cy="2172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{{enc_atendidos}}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6064979" y="3524124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662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6064990" y="2101267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{{enc_marque1}}</a:t>
            </a:r>
            <a:endParaRPr b="1" sz="900">
              <a:solidFill>
                <a:srgbClr val="595959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6064987" y="1948140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Marcaron</a:t>
            </a:r>
            <a:r>
              <a:rPr b="1" lang="es" sz="662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1</a:t>
            </a:r>
            <a:endParaRPr b="1" sz="662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6064990" y="2490280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1"/>
              <a:buFont typeface="Arial"/>
              <a:buNone/>
            </a:pPr>
            <a:r>
              <a:rPr b="1" lang="es" sz="900" u="sng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{{enc_e75}}</a:t>
            </a:r>
            <a:r>
              <a:rPr b="1" lang="es" sz="9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00" u="sng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({{enc_e75_pct}}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b="1" lang="es" sz="900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6064987" y="2337279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Escucharon +75%</a:t>
            </a:r>
            <a:endParaRPr b="1" sz="662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515" name="Google Shape;515;p27"/>
          <p:cNvGrpSpPr/>
          <p:nvPr/>
        </p:nvGrpSpPr>
        <p:grpSpPr>
          <a:xfrm>
            <a:off x="5756479" y="3959019"/>
            <a:ext cx="107202" cy="80154"/>
            <a:chOff x="11542348" y="3083222"/>
            <a:chExt cx="361681" cy="274875"/>
          </a:xfrm>
        </p:grpSpPr>
        <p:sp>
          <p:nvSpPr>
            <p:cNvPr id="516" name="Google Shape;516;p2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18" name="Google Shape;518;p27"/>
          <p:cNvGrpSpPr/>
          <p:nvPr/>
        </p:nvGrpSpPr>
        <p:grpSpPr>
          <a:xfrm>
            <a:off x="5764154" y="3568778"/>
            <a:ext cx="90384" cy="67592"/>
            <a:chOff x="11542348" y="3083222"/>
            <a:chExt cx="361681" cy="274875"/>
          </a:xfrm>
        </p:grpSpPr>
        <p:sp>
          <p:nvSpPr>
            <p:cNvPr id="519" name="Google Shape;519;p2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4675" lIns="9350" spcFirstLastPara="1" rIns="9350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6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4675" lIns="9350" spcFirstLastPara="1" rIns="9350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6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21" name="Google Shape;521;p27"/>
          <p:cNvGrpSpPr/>
          <p:nvPr/>
        </p:nvGrpSpPr>
        <p:grpSpPr>
          <a:xfrm>
            <a:off x="5739572" y="2375625"/>
            <a:ext cx="107202" cy="80154"/>
            <a:chOff x="11542348" y="3083222"/>
            <a:chExt cx="361681" cy="274875"/>
          </a:xfrm>
        </p:grpSpPr>
        <p:sp>
          <p:nvSpPr>
            <p:cNvPr id="522" name="Google Shape;522;p2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24" name="Google Shape;524;p27"/>
          <p:cNvGrpSpPr/>
          <p:nvPr/>
        </p:nvGrpSpPr>
        <p:grpSpPr>
          <a:xfrm>
            <a:off x="5739572" y="1985317"/>
            <a:ext cx="107202" cy="80154"/>
            <a:chOff x="11542348" y="3083222"/>
            <a:chExt cx="361681" cy="274875"/>
          </a:xfrm>
        </p:grpSpPr>
        <p:sp>
          <p:nvSpPr>
            <p:cNvPr id="525" name="Google Shape;525;p27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526" name="Google Shape;526;p27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5525" lIns="11100" spcFirstLastPara="1" rIns="11100" wrap="square" tIns="55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9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527" name="Google Shape;527;p27"/>
          <p:cNvGrpSpPr/>
          <p:nvPr/>
        </p:nvGrpSpPr>
        <p:grpSpPr>
          <a:xfrm>
            <a:off x="8156094" y="3947775"/>
            <a:ext cx="81810" cy="102641"/>
            <a:chOff x="3731750" y="3001050"/>
            <a:chExt cx="1526300" cy="1940275"/>
          </a:xfrm>
        </p:grpSpPr>
        <p:sp>
          <p:nvSpPr>
            <p:cNvPr id="528" name="Google Shape;528;p2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0" name="Google Shape;530;p27"/>
          <p:cNvGrpSpPr/>
          <p:nvPr/>
        </p:nvGrpSpPr>
        <p:grpSpPr>
          <a:xfrm>
            <a:off x="8156094" y="3551253"/>
            <a:ext cx="81810" cy="102641"/>
            <a:chOff x="3731750" y="3001050"/>
            <a:chExt cx="1526300" cy="1940275"/>
          </a:xfrm>
        </p:grpSpPr>
        <p:sp>
          <p:nvSpPr>
            <p:cNvPr id="531" name="Google Shape;531;p2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27"/>
          <p:cNvGrpSpPr/>
          <p:nvPr/>
        </p:nvGrpSpPr>
        <p:grpSpPr>
          <a:xfrm>
            <a:off x="8237960" y="2350270"/>
            <a:ext cx="81810" cy="102641"/>
            <a:chOff x="3731750" y="3001050"/>
            <a:chExt cx="1526300" cy="1940275"/>
          </a:xfrm>
        </p:grpSpPr>
        <p:sp>
          <p:nvSpPr>
            <p:cNvPr id="534" name="Google Shape;534;p2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27"/>
          <p:cNvGrpSpPr/>
          <p:nvPr/>
        </p:nvGrpSpPr>
        <p:grpSpPr>
          <a:xfrm>
            <a:off x="8222460" y="1961121"/>
            <a:ext cx="81810" cy="102641"/>
            <a:chOff x="3731750" y="3001050"/>
            <a:chExt cx="1526300" cy="1940275"/>
          </a:xfrm>
        </p:grpSpPr>
        <p:sp>
          <p:nvSpPr>
            <p:cNvPr id="537" name="Google Shape;537;p27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51450" lIns="51450" spcFirstLastPara="1" rIns="51450" wrap="square" tIns="5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9" name="Google Shape;5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608" y="2384407"/>
            <a:ext cx="67606" cy="6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409" y="2001352"/>
            <a:ext cx="67606" cy="676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1" name="Google Shape;541;p27"/>
          <p:cNvCxnSpPr/>
          <p:nvPr/>
        </p:nvCxnSpPr>
        <p:spPr>
          <a:xfrm>
            <a:off x="4762573" y="1918465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27"/>
          <p:cNvCxnSpPr/>
          <p:nvPr/>
        </p:nvCxnSpPr>
        <p:spPr>
          <a:xfrm>
            <a:off x="4759573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27"/>
          <p:cNvCxnSpPr/>
          <p:nvPr/>
        </p:nvCxnSpPr>
        <p:spPr>
          <a:xfrm>
            <a:off x="5990220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27"/>
          <p:cNvCxnSpPr/>
          <p:nvPr/>
        </p:nvCxnSpPr>
        <p:spPr>
          <a:xfrm>
            <a:off x="5987219" y="1900192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27"/>
          <p:cNvCxnSpPr/>
          <p:nvPr/>
        </p:nvCxnSpPr>
        <p:spPr>
          <a:xfrm>
            <a:off x="7153302" y="1917802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27"/>
          <p:cNvCxnSpPr/>
          <p:nvPr/>
        </p:nvCxnSpPr>
        <p:spPr>
          <a:xfrm>
            <a:off x="7153715" y="3495790"/>
            <a:ext cx="0" cy="785100"/>
          </a:xfrm>
          <a:prstGeom prst="straightConnector1">
            <a:avLst/>
          </a:prstGeom>
          <a:noFill/>
          <a:ln cap="flat" cmpd="sng" w="7875">
            <a:solidFill>
              <a:srgbClr val="99999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547" name="Google Shape;54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513" y="3548987"/>
            <a:ext cx="107174" cy="10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533" y="1972309"/>
            <a:ext cx="107174" cy="107174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7"/>
          <p:cNvSpPr/>
          <p:nvPr/>
        </p:nvSpPr>
        <p:spPr>
          <a:xfrm>
            <a:off x="4842700" y="4079098"/>
            <a:ext cx="10647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{{enc_mails_enviados}}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6065247" y="4079349"/>
            <a:ext cx="1013400" cy="2091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{{enc_audiencia_ivr}}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1" name="Google Shape;55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8911" y="2355568"/>
            <a:ext cx="120397" cy="12038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7"/>
          <p:cNvSpPr/>
          <p:nvPr/>
        </p:nvSpPr>
        <p:spPr>
          <a:xfrm>
            <a:off x="6066211" y="3920646"/>
            <a:ext cx="1013400" cy="156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662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3" name="Google Shape;553;p27"/>
          <p:cNvSpPr/>
          <p:nvPr/>
        </p:nvSpPr>
        <p:spPr>
          <a:xfrm>
            <a:off x="4842706" y="3920646"/>
            <a:ext cx="1064700" cy="156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2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662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54" name="Google Shape;5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733" y="3568771"/>
            <a:ext cx="67606" cy="67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008" y="3965293"/>
            <a:ext cx="67606" cy="67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8"/>
          <p:cNvSpPr/>
          <p:nvPr/>
        </p:nvSpPr>
        <p:spPr>
          <a:xfrm>
            <a:off x="3200400" y="1636402"/>
            <a:ext cx="5577900" cy="2278500"/>
          </a:xfrm>
          <a:prstGeom prst="roundRect">
            <a:avLst>
              <a:gd fmla="val 5056" name="adj"/>
            </a:avLst>
          </a:prstGeom>
          <a:solidFill>
            <a:srgbClr val="F7FAFD"/>
          </a:solidFill>
          <a:ln cap="flat" cmpd="sng" w="12700">
            <a:solidFill>
              <a:srgbClr val="E1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274775" y="316622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2" name="Google Shape;562;p28"/>
          <p:cNvGrpSpPr/>
          <p:nvPr/>
        </p:nvGrpSpPr>
        <p:grpSpPr>
          <a:xfrm>
            <a:off x="376133" y="394297"/>
            <a:ext cx="190480" cy="211556"/>
            <a:chOff x="2169088" y="811743"/>
            <a:chExt cx="3848087" cy="4273857"/>
          </a:xfrm>
        </p:grpSpPr>
        <p:sp>
          <p:nvSpPr>
            <p:cNvPr id="563" name="Google Shape;563;p2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5" name="Google Shape;565;p28"/>
          <p:cNvSpPr txBox="1"/>
          <p:nvPr/>
        </p:nvSpPr>
        <p:spPr>
          <a:xfrm>
            <a:off x="740400" y="335693"/>
            <a:ext cx="4340400" cy="30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u="non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Comuna {{ecv_comuna}} ({{ecv_fecha}})</a:t>
            </a:r>
            <a:r>
              <a:rPr lang="es" sz="2000" b="0" u="none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  ·  {{periodo}}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57200" y="801350"/>
            <a:ext cx="2606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585216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8" name="Google Shape;5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03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8"/>
          <p:cNvSpPr/>
          <p:nvPr/>
        </p:nvSpPr>
        <p:spPr>
          <a:xfrm>
            <a:off x="1170432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lang="es" sz="2300" u="non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{{ecv_inscriptos}}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1179576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3218725" y="805500"/>
            <a:ext cx="27231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3346743" y="951810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3" name="Google Shape;5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9895" y="102496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8"/>
          <p:cNvSpPr/>
          <p:nvPr/>
        </p:nvSpPr>
        <p:spPr>
          <a:xfrm>
            <a:off x="3931959" y="895080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lang="es" sz="2300" u="none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{{ecv_asistentes}}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3941103" y="1279128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6089904" y="801343"/>
            <a:ext cx="2679300" cy="749700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/>
          <p:nvPr/>
        </p:nvSpPr>
        <p:spPr>
          <a:xfrm>
            <a:off x="6217920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8" name="Google Shape;57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1029943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8"/>
          <p:cNvSpPr/>
          <p:nvPr/>
        </p:nvSpPr>
        <p:spPr>
          <a:xfrm>
            <a:off x="6803136" y="890918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lang="es" sz="2300" u="sng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{{enc_minutos}}</a:t>
            </a:r>
            <a:endParaRPr i="0" sz="23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6812280" y="1274966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88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Minutos promedio</a:t>
            </a:r>
            <a:endParaRPr i="0" sz="8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457200" y="1636402"/>
            <a:ext cx="2606100" cy="2278500"/>
          </a:xfrm>
          <a:prstGeom prst="roundRect">
            <a:avLst>
              <a:gd fmla="val 5056" name="adj"/>
            </a:avLst>
          </a:prstGeom>
          <a:solidFill>
            <a:srgbClr val="EAF3FB"/>
          </a:solidFill>
          <a:ln cap="flat" cmpd="sng" w="12700">
            <a:solidFill>
              <a:srgbClr val="D5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8"/>
          <p:cNvSpPr/>
          <p:nvPr/>
        </p:nvSpPr>
        <p:spPr>
          <a:xfrm>
            <a:off x="585216" y="1764411"/>
            <a:ext cx="4572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585216" y="1764411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1115568" y="1746123"/>
            <a:ext cx="187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r>
              <a:rPr i="0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  Meta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585216" y="2093595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676656" y="2157603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87" name="Google Shape;58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198751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8"/>
          <p:cNvSpPr/>
          <p:nvPr/>
        </p:nvSpPr>
        <p:spPr>
          <a:xfrm>
            <a:off x="950976" y="2093595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1645925" y="209360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{{enc_pre_alcance}}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0" name="Google Shape;590;p28"/>
          <p:cNvSpPr/>
          <p:nvPr/>
        </p:nvSpPr>
        <p:spPr>
          <a:xfrm>
            <a:off x="585216" y="2491359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/>
          <p:nvPr/>
        </p:nvSpPr>
        <p:spPr>
          <a:xfrm>
            <a:off x="676656" y="2555367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92" name="Google Shape;59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596515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8"/>
          <p:cNvSpPr/>
          <p:nvPr/>
        </p:nvSpPr>
        <p:spPr>
          <a:xfrm>
            <a:off x="950976" y="2491359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i="0" lang="es" sz="8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1645925" y="2491350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{{enc_pre_impresiones}}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585216" y="2889123"/>
            <a:ext cx="2349900" cy="32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53245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676656" y="2953131"/>
            <a:ext cx="201300" cy="2013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97" name="Google Shape;59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" y="2994279"/>
            <a:ext cx="118872" cy="11887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8"/>
          <p:cNvSpPr/>
          <p:nvPr/>
        </p:nvSpPr>
        <p:spPr>
          <a:xfrm>
            <a:off x="950976" y="2889123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50"/>
              <a:buFont typeface="Archivo"/>
              <a:buNone/>
            </a:pPr>
            <a:r>
              <a:rPr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i="0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1645925" y="2889125"/>
            <a:ext cx="1143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00"/>
              <a:buFont typeface="Calibri"/>
              <a:buNone/>
            </a:pPr>
            <a:r>
              <a:rPr b="1" lang="es" sz="120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{{enc_pre_clics}} </a:t>
            </a:r>
            <a:r>
              <a:rPr b="1" lang="es" sz="900" u="sng">
                <a:solidFill>
                  <a:srgbClr val="93C47D"/>
                </a:solidFill>
                <a:latin typeface="Archivo"/>
                <a:ea typeface="Archivo"/>
                <a:cs typeface="Archivo"/>
                <a:sym typeface="Archivo"/>
              </a:rPr>
              <a:t>({{enc_pre_ctr}}%)</a:t>
            </a:r>
            <a:endParaRPr b="1" sz="900">
              <a:solidFill>
                <a:srgbClr val="93C47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3328416" y="1764411"/>
            <a:ext cx="5121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3328416" y="1764411"/>
            <a:ext cx="51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3328425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A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8"/>
          <p:cNvSpPr/>
          <p:nvPr/>
        </p:nvSpPr>
        <p:spPr>
          <a:xfrm>
            <a:off x="3438144" y="2203323"/>
            <a:ext cx="237600" cy="2376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04" name="Google Shape;60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3864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8"/>
          <p:cNvSpPr/>
          <p:nvPr/>
        </p:nvSpPr>
        <p:spPr>
          <a:xfrm>
            <a:off x="3730752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3456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3456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{{enc_post_meta_alcance}}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08" name="Google Shape;608;p28"/>
          <p:cNvSpPr/>
          <p:nvPr/>
        </p:nvSpPr>
        <p:spPr>
          <a:xfrm>
            <a:off x="5138937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FD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8"/>
          <p:cNvSpPr/>
          <p:nvPr/>
        </p:nvSpPr>
        <p:spPr>
          <a:xfrm>
            <a:off x="5248656" y="2203323"/>
            <a:ext cx="237600" cy="237600"/>
          </a:xfrm>
          <a:prstGeom prst="ellipse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10" name="Google Shape;61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4376" y="224904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8"/>
          <p:cNvSpPr/>
          <p:nvPr/>
        </p:nvSpPr>
        <p:spPr>
          <a:xfrm>
            <a:off x="5541264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2" name="Google Shape;612;p28"/>
          <p:cNvSpPr/>
          <p:nvPr/>
        </p:nvSpPr>
        <p:spPr>
          <a:xfrm>
            <a:off x="6949450" y="2093603"/>
            <a:ext cx="1700700" cy="1689600"/>
          </a:xfrm>
          <a:prstGeom prst="roundRect">
            <a:avLst>
              <a:gd fmla="val 6140" name="adj"/>
            </a:avLst>
          </a:prstGeom>
          <a:solidFill>
            <a:srgbClr val="E7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>
            <a:off x="7059168" y="2203323"/>
            <a:ext cx="237600" cy="237600"/>
          </a:xfrm>
          <a:prstGeom prst="ellipse">
            <a:avLst/>
          </a:prstGeom>
          <a:solidFill>
            <a:srgbClr val="9FD9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614" name="Google Shape;61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0316" y="2244471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8"/>
          <p:cNvSpPr/>
          <p:nvPr/>
        </p:nvSpPr>
        <p:spPr>
          <a:xfrm>
            <a:off x="7351776" y="2203323"/>
            <a:ext cx="1243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457200" y="4001044"/>
            <a:ext cx="8321100" cy="777300"/>
          </a:xfrm>
          <a:prstGeom prst="roundRect">
            <a:avLst>
              <a:gd fmla="val 11765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8"/>
          <p:cNvSpPr/>
          <p:nvPr/>
        </p:nvSpPr>
        <p:spPr>
          <a:xfrm>
            <a:off x="658368" y="4119916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PRE + POST</a:t>
            </a:r>
            <a:endParaRPr i="0" sz="7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658368" y="4249821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" sz="1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Resultados parciales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19" name="Google Shape;619;p28"/>
          <p:cNvSpPr/>
          <p:nvPr/>
        </p:nvSpPr>
        <p:spPr>
          <a:xfrm>
            <a:off x="658368" y="4487565"/>
            <a:ext cx="173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800"/>
              <a:buFont typeface="Archivo"/>
              <a:buNone/>
            </a:pPr>
            <a:r>
              <a:rPr i="1" lang="es" sz="800" u="sng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Fecha de fin: {{enc_fecha_fin}}</a:t>
            </a:r>
            <a:endParaRPr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251460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8"/>
          <p:cNvSpPr/>
          <p:nvPr/>
        </p:nvSpPr>
        <p:spPr>
          <a:xfrm>
            <a:off x="251460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 u="sng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{{enc_tot_usuarios}}</a:t>
            </a:r>
            <a:endParaRPr i="0" sz="14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2" name="Google Shape;622;p28"/>
          <p:cNvSpPr/>
          <p:nvPr/>
        </p:nvSpPr>
        <p:spPr>
          <a:xfrm>
            <a:off x="253288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374904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374904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chivo"/>
              <a:buNone/>
            </a:pPr>
            <a:r>
              <a:rPr b="1" lang="es" sz="1250" u="sng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{{enc_tot_impresiones}}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376732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498348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498348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 u="sng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{{enc_tot_frecuencia}}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500176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7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621792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621792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 u="sng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{{enc_tot_visualizaciones}}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623620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745236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>
            <a:off x="745236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 u="sng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{{enc_tot_clics}}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747064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5" name="Google Shape;635;p28"/>
          <p:cNvSpPr/>
          <p:nvPr/>
        </p:nvSpPr>
        <p:spPr>
          <a:xfrm>
            <a:off x="3456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3456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{{enc_post_meta_imp}}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3456445" y="33030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3456470" y="34657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{{enc_post_meta_vis}}</a:t>
            </a:r>
            <a:r>
              <a:rPr b="1" lang="es" sz="9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00" u="sng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({{enc_post_meta_vtr}}%)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266944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5266969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{{enc_post_google_imp}}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5266944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5266969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{{enc_post_google_vis}} </a:t>
            </a:r>
            <a:r>
              <a:rPr b="1" lang="es" sz="100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({{enc_post_google_vtr}}%)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7077432" y="2550795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7077457" y="2713468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{{enc_post_prog_imp}}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7077432" y="2921370"/>
            <a:ext cx="1481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7077457" y="3084043"/>
            <a:ext cx="148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{{enc_post_prog_vis}}  </a:t>
            </a:r>
            <a:r>
              <a:rPr b="1" lang="es" sz="1000" u="sng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({{enc_post_prog_vtr}}%)</a:t>
            </a:r>
            <a:endParaRPr b="1" sz="10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598950" y="3322575"/>
            <a:ext cx="2349900" cy="3291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726975" y="3381535"/>
            <a:ext cx="215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2,08%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3913632" y="1746123"/>
            <a:ext cx="480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Difusión</a:t>
            </a:r>
            <a:r>
              <a:rPr i="1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(parcial)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5138925" y="1720825"/>
            <a:ext cx="3511200" cy="2925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5266950" y="1760792"/>
            <a:ext cx="332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81,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77,4%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29"/>
          <p:cNvGrpSpPr/>
          <p:nvPr/>
        </p:nvGrpSpPr>
        <p:grpSpPr>
          <a:xfrm>
            <a:off x="262075" y="191118"/>
            <a:ext cx="217624" cy="217189"/>
            <a:chOff x="11899863" y="7646238"/>
            <a:chExt cx="563500" cy="562375"/>
          </a:xfrm>
        </p:grpSpPr>
        <p:sp>
          <p:nvSpPr>
            <p:cNvPr id="657" name="Google Shape;657;p29"/>
            <p:cNvSpPr/>
            <p:nvPr/>
          </p:nvSpPr>
          <p:spPr>
            <a:xfrm>
              <a:off x="11899863" y="7646238"/>
              <a:ext cx="563500" cy="562375"/>
            </a:xfrm>
            <a:custGeom>
              <a:rect b="b" l="l" r="r" t="t"/>
              <a:pathLst>
                <a:path extrusionOk="0" h="22495" w="22540">
                  <a:moveTo>
                    <a:pt x="11264" y="3490"/>
                  </a:moveTo>
                  <a:cubicBezTo>
                    <a:pt x="11274" y="3490"/>
                    <a:pt x="11284" y="3490"/>
                    <a:pt x="11295" y="3490"/>
                  </a:cubicBezTo>
                  <a:cubicBezTo>
                    <a:pt x="15583" y="3507"/>
                    <a:pt x="19037" y="6977"/>
                    <a:pt x="19037" y="11249"/>
                  </a:cubicBezTo>
                  <a:cubicBezTo>
                    <a:pt x="19037" y="15528"/>
                    <a:pt x="15550" y="19008"/>
                    <a:pt x="11292" y="19008"/>
                  </a:cubicBezTo>
                  <a:cubicBezTo>
                    <a:pt x="11282" y="19008"/>
                    <a:pt x="11272" y="19008"/>
                    <a:pt x="11262" y="19008"/>
                  </a:cubicBezTo>
                  <a:cubicBezTo>
                    <a:pt x="6973" y="19008"/>
                    <a:pt x="3487" y="15505"/>
                    <a:pt x="3519" y="11233"/>
                  </a:cubicBezTo>
                  <a:cubicBezTo>
                    <a:pt x="3536" y="6954"/>
                    <a:pt x="7006" y="3490"/>
                    <a:pt x="11264" y="3490"/>
                  </a:cubicBezTo>
                  <a:close/>
                  <a:moveTo>
                    <a:pt x="11276" y="1"/>
                  </a:moveTo>
                  <a:cubicBezTo>
                    <a:pt x="11255" y="1"/>
                    <a:pt x="11234" y="2"/>
                    <a:pt x="11213" y="4"/>
                  </a:cubicBezTo>
                  <a:cubicBezTo>
                    <a:pt x="10869" y="37"/>
                    <a:pt x="10623" y="298"/>
                    <a:pt x="10607" y="659"/>
                  </a:cubicBezTo>
                  <a:cubicBezTo>
                    <a:pt x="10591" y="1101"/>
                    <a:pt x="10607" y="1542"/>
                    <a:pt x="10607" y="2001"/>
                  </a:cubicBezTo>
                  <a:cubicBezTo>
                    <a:pt x="10607" y="2132"/>
                    <a:pt x="10558" y="2181"/>
                    <a:pt x="10427" y="2197"/>
                  </a:cubicBezTo>
                  <a:cubicBezTo>
                    <a:pt x="10116" y="2230"/>
                    <a:pt x="9821" y="2279"/>
                    <a:pt x="9527" y="2328"/>
                  </a:cubicBezTo>
                  <a:cubicBezTo>
                    <a:pt x="5958" y="2983"/>
                    <a:pt x="3028" y="5897"/>
                    <a:pt x="2357" y="9465"/>
                  </a:cubicBezTo>
                  <a:cubicBezTo>
                    <a:pt x="2292" y="9825"/>
                    <a:pt x="2243" y="10201"/>
                    <a:pt x="2177" y="10578"/>
                  </a:cubicBezTo>
                  <a:lnTo>
                    <a:pt x="737" y="10578"/>
                  </a:lnTo>
                  <a:cubicBezTo>
                    <a:pt x="491" y="10578"/>
                    <a:pt x="311" y="10676"/>
                    <a:pt x="164" y="10856"/>
                  </a:cubicBezTo>
                  <a:cubicBezTo>
                    <a:pt x="17" y="11085"/>
                    <a:pt x="0" y="11315"/>
                    <a:pt x="115" y="11544"/>
                  </a:cubicBezTo>
                  <a:cubicBezTo>
                    <a:pt x="229" y="11789"/>
                    <a:pt x="426" y="11920"/>
                    <a:pt x="688" y="11920"/>
                  </a:cubicBezTo>
                  <a:lnTo>
                    <a:pt x="2194" y="11920"/>
                  </a:lnTo>
                  <a:cubicBezTo>
                    <a:pt x="2210" y="12018"/>
                    <a:pt x="2226" y="12100"/>
                    <a:pt x="2226" y="12182"/>
                  </a:cubicBezTo>
                  <a:cubicBezTo>
                    <a:pt x="2292" y="12509"/>
                    <a:pt x="2308" y="12837"/>
                    <a:pt x="2390" y="13164"/>
                  </a:cubicBezTo>
                  <a:cubicBezTo>
                    <a:pt x="3258" y="17076"/>
                    <a:pt x="6433" y="19892"/>
                    <a:pt x="10427" y="20301"/>
                  </a:cubicBezTo>
                  <a:cubicBezTo>
                    <a:pt x="10558" y="20317"/>
                    <a:pt x="10607" y="20366"/>
                    <a:pt x="10607" y="20514"/>
                  </a:cubicBezTo>
                  <a:cubicBezTo>
                    <a:pt x="10607" y="20874"/>
                    <a:pt x="10623" y="21250"/>
                    <a:pt x="10607" y="21627"/>
                  </a:cubicBezTo>
                  <a:cubicBezTo>
                    <a:pt x="10574" y="22036"/>
                    <a:pt x="10722" y="22331"/>
                    <a:pt x="11114" y="22494"/>
                  </a:cubicBezTo>
                  <a:lnTo>
                    <a:pt x="11458" y="22494"/>
                  </a:lnTo>
                  <a:cubicBezTo>
                    <a:pt x="11851" y="22314"/>
                    <a:pt x="11982" y="22020"/>
                    <a:pt x="11949" y="21594"/>
                  </a:cubicBezTo>
                  <a:cubicBezTo>
                    <a:pt x="11933" y="21185"/>
                    <a:pt x="11949" y="20759"/>
                    <a:pt x="11949" y="20350"/>
                  </a:cubicBezTo>
                  <a:cubicBezTo>
                    <a:pt x="12408" y="20268"/>
                    <a:pt x="12833" y="20219"/>
                    <a:pt x="13259" y="20121"/>
                  </a:cubicBezTo>
                  <a:cubicBezTo>
                    <a:pt x="16974" y="19319"/>
                    <a:pt x="19823" y="16209"/>
                    <a:pt x="20297" y="12428"/>
                  </a:cubicBezTo>
                  <a:cubicBezTo>
                    <a:pt x="20363" y="11920"/>
                    <a:pt x="20363" y="11920"/>
                    <a:pt x="20870" y="11920"/>
                  </a:cubicBezTo>
                  <a:cubicBezTo>
                    <a:pt x="21045" y="11920"/>
                    <a:pt x="21219" y="11913"/>
                    <a:pt x="21394" y="11913"/>
                  </a:cubicBezTo>
                  <a:cubicBezTo>
                    <a:pt x="21481" y="11913"/>
                    <a:pt x="21569" y="11915"/>
                    <a:pt x="21656" y="11920"/>
                  </a:cubicBezTo>
                  <a:cubicBezTo>
                    <a:pt x="21693" y="11923"/>
                    <a:pt x="21728" y="11925"/>
                    <a:pt x="21763" y="11925"/>
                  </a:cubicBezTo>
                  <a:cubicBezTo>
                    <a:pt x="22117" y="11925"/>
                    <a:pt x="22376" y="11772"/>
                    <a:pt x="22540" y="11429"/>
                  </a:cubicBezTo>
                  <a:lnTo>
                    <a:pt x="22540" y="11069"/>
                  </a:lnTo>
                  <a:cubicBezTo>
                    <a:pt x="22376" y="10726"/>
                    <a:pt x="22117" y="10574"/>
                    <a:pt x="21763" y="10574"/>
                  </a:cubicBezTo>
                  <a:cubicBezTo>
                    <a:pt x="21728" y="10574"/>
                    <a:pt x="21693" y="10575"/>
                    <a:pt x="21656" y="10578"/>
                  </a:cubicBezTo>
                  <a:cubicBezTo>
                    <a:pt x="21530" y="10583"/>
                    <a:pt x="21405" y="10585"/>
                    <a:pt x="21279" y="10585"/>
                  </a:cubicBezTo>
                  <a:cubicBezTo>
                    <a:pt x="21028" y="10585"/>
                    <a:pt x="20777" y="10578"/>
                    <a:pt x="20526" y="10578"/>
                  </a:cubicBezTo>
                  <a:cubicBezTo>
                    <a:pt x="20395" y="10578"/>
                    <a:pt x="20346" y="10545"/>
                    <a:pt x="20330" y="10398"/>
                  </a:cubicBezTo>
                  <a:cubicBezTo>
                    <a:pt x="20297" y="10103"/>
                    <a:pt x="20264" y="9825"/>
                    <a:pt x="20215" y="9530"/>
                  </a:cubicBezTo>
                  <a:cubicBezTo>
                    <a:pt x="19528" y="5847"/>
                    <a:pt x="16483" y="2868"/>
                    <a:pt x="12800" y="2279"/>
                  </a:cubicBezTo>
                  <a:cubicBezTo>
                    <a:pt x="12522" y="2230"/>
                    <a:pt x="12244" y="2197"/>
                    <a:pt x="11949" y="2165"/>
                  </a:cubicBezTo>
                  <a:cubicBezTo>
                    <a:pt x="11949" y="1690"/>
                    <a:pt x="11949" y="1231"/>
                    <a:pt x="11949" y="773"/>
                  </a:cubicBezTo>
                  <a:cubicBezTo>
                    <a:pt x="11949" y="691"/>
                    <a:pt x="11949" y="593"/>
                    <a:pt x="11917" y="495"/>
                  </a:cubicBezTo>
                  <a:cubicBezTo>
                    <a:pt x="11840" y="205"/>
                    <a:pt x="11565" y="1"/>
                    <a:pt x="1127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12069263" y="7815313"/>
              <a:ext cx="225100" cy="224700"/>
            </a:xfrm>
            <a:custGeom>
              <a:rect b="b" l="l" r="r" t="t"/>
              <a:pathLst>
                <a:path extrusionOk="0" h="8988" w="9004">
                  <a:moveTo>
                    <a:pt x="4516" y="1"/>
                  </a:moveTo>
                  <a:cubicBezTo>
                    <a:pt x="4506" y="1"/>
                    <a:pt x="4496" y="1"/>
                    <a:pt x="4486" y="1"/>
                  </a:cubicBezTo>
                  <a:cubicBezTo>
                    <a:pt x="2014" y="1"/>
                    <a:pt x="1" y="2031"/>
                    <a:pt x="1" y="4502"/>
                  </a:cubicBezTo>
                  <a:cubicBezTo>
                    <a:pt x="17" y="6990"/>
                    <a:pt x="2031" y="8987"/>
                    <a:pt x="4519" y="8987"/>
                  </a:cubicBezTo>
                  <a:cubicBezTo>
                    <a:pt x="7007" y="8971"/>
                    <a:pt x="9004" y="6974"/>
                    <a:pt x="9004" y="4486"/>
                  </a:cubicBezTo>
                  <a:cubicBezTo>
                    <a:pt x="8987" y="2008"/>
                    <a:pt x="6990" y="1"/>
                    <a:pt x="4516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29"/>
          <p:cNvSpPr/>
          <p:nvPr/>
        </p:nvSpPr>
        <p:spPr>
          <a:xfrm>
            <a:off x="360750" y="6607203"/>
            <a:ext cx="8423100" cy="2184000"/>
          </a:xfrm>
          <a:prstGeom prst="round2SameRect">
            <a:avLst>
              <a:gd fmla="val 0" name="adj1"/>
              <a:gd fmla="val 10858" name="adj2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16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6927050" y="56750"/>
            <a:ext cx="2127300" cy="3042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1" name="Google Shape;661;p29"/>
          <p:cNvGraphicFramePr/>
          <p:nvPr/>
        </p:nvGraphicFramePr>
        <p:xfrm>
          <a:off x="225273" y="86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{798BEB29-5948-4BFC-8876-9CDC837CBFB6}</a:tableStyleId>
              </a:tblPr>
              <a:tblGrid>
                <a:gridCol w="1851775"/>
                <a:gridCol w="1242500"/>
                <a:gridCol w="798400"/>
                <a:gridCol w="952325"/>
                <a:gridCol w="889225"/>
                <a:gridCol w="1009000"/>
                <a:gridCol w="1229325"/>
                <a:gridCol w="638575"/>
              </a:tblGrid>
              <a:tr h="27205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rgbClr val="8DE2D6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Campañas</a:t>
                      </a:r>
                      <a:endParaRPr b="1">
                        <a:solidFill>
                          <a:srgbClr val="8DE2D6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3245"/>
                    </a:solidFill>
                  </a:tcPr>
                </a:tc>
                <a:tc gridSpan="7"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4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DIGITAL</a:t>
                      </a:r>
                      <a:endParaRPr b="1" sz="1100">
                        <a:solidFill>
                          <a:srgbClr val="153244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EAFF"/>
                    </a:solidFill>
                  </a:tcPr>
                </a:tc>
                <a:tc rowSpan="2" hMerge="1">
                  <a:txBody>
                    <a:bodyPr/>
                    <a:p/>
                  </a:txBody>
                </a:tc>
                <a:tc rowSpan="2" hMerge="1">
                  <a:txBody>
                    <a:bodyPr/>
                    <a:p/>
                  </a:txBody>
                </a:tc>
                <a:tc rowSpan="2" hMerge="1">
                  <a:txBody>
                    <a:bodyPr/>
                    <a:p/>
                  </a:txBody>
                </a:tc>
                <a:tc rowSpan="2" hMerge="1">
                  <a:txBody>
                    <a:bodyPr/>
                    <a:p/>
                  </a:txBody>
                </a:tc>
                <a:tc rowSpan="2" hMerge="1">
                  <a:txBody>
                    <a:bodyPr/>
                    <a:p/>
                  </a:txBody>
                </a:tc>
                <a:tc rowSpan="2" hMerge="1">
                  <a:txBody>
                    <a:bodyPr/>
                    <a:p/>
                  </a:txBody>
                </a:tc>
              </a:tr>
              <a:tr h="392575">
                <a:tc vMerge="1">
                  <a:txBody>
                    <a:bodyPr/>
                    <a:p/>
                  </a:txBody>
                </a:tc>
                <a:tc gridSpan="7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  <a:tc hMerge="1" vMerge="1">
                  <a:txBody>
                    <a:bodyPr/>
                    <a:p/>
                  </a:txBody>
                </a:tc>
              </a:tr>
              <a:tr h="39257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Período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Formato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Habitantes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Visualizaciones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VTR%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  <a:tr h="52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 u="sng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{{camp1}}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 u="sng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{{camp2}}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 u="sng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{{camp3}}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8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 u="sng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{{camp4}}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19050" marR="28575" marL="72000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662" name="Google Shape;662;p29"/>
          <p:cNvSpPr txBox="1"/>
          <p:nvPr/>
        </p:nvSpPr>
        <p:spPr>
          <a:xfrm>
            <a:off x="225275" y="4278700"/>
            <a:ext cx="224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Benchmark VTR Post RDV: </a:t>
            </a:r>
            <a:r>
              <a:rPr b="1" i="1" lang="es" sz="900">
                <a:latin typeface="Archivo"/>
                <a:ea typeface="Archivo"/>
                <a:cs typeface="Archivo"/>
                <a:sym typeface="Archivo"/>
              </a:rPr>
              <a:t>44</a:t>
            </a:r>
            <a:r>
              <a:rPr b="1" i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endParaRPr b="1" i="1"/>
          </a:p>
        </p:txBody>
      </p:sp>
      <p:sp>
        <p:nvSpPr>
          <p:cNvPr id="663" name="Google Shape;663;p29"/>
          <p:cNvSpPr txBox="1"/>
          <p:nvPr/>
        </p:nvSpPr>
        <p:spPr>
          <a:xfrm>
            <a:off x="582715" y="129475"/>
            <a:ext cx="3871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r>
              <a:rPr b="1" lang="es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| ECVs: post reuniones</a:t>
            </a:r>
            <a:r>
              <a:rPr b="0" lang="es" sz="1800" u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 ·  {{periodo}}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5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"/>
          <p:cNvSpPr txBox="1"/>
          <p:nvPr/>
        </p:nvSpPr>
        <p:spPr>
          <a:xfrm>
            <a:off x="616050" y="2144625"/>
            <a:ext cx="79119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endParaRPr b="1" sz="429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29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4374750" y="3549663"/>
            <a:ext cx="394500" cy="15600"/>
          </a:xfrm>
          <a:prstGeom prst="roundRect">
            <a:avLst>
              <a:gd fmla="val 50000" name="adj"/>
            </a:avLst>
          </a:prstGeom>
          <a:solidFill>
            <a:srgbClr val="42677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 rot="-5400000">
            <a:off x="4479849" y="2256264"/>
            <a:ext cx="184301" cy="559017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4268949" y="130382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30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673" name="Google Shape;673;p30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674" name="Google Shape;674;p30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30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30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30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30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30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30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30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30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0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30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30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0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30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30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0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0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0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2" name="Google Shape;692;p30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693" name="Google Shape;693;p30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0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0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0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0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8" name="Google Shape;698;p30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699" name="Google Shape;699;p30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0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0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0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0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0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0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0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0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0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0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0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0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0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0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30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0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