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5"/>
    <p:sldMasterId id="2147483706" r:id="rId6"/>
    <p:sldMasterId id="21474837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5143500" cx="9144000"/>
  <p:notesSz cx="6858000" cy="9144000"/>
  <p:embeddedFontLst>
    <p:embeddedFont>
      <p:font typeface="Archivo ExtraBold"/>
      <p:bold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  <p:embeddedFont>
      <p:font typeface="Poppins Light"/>
      <p:regular r:id="rId44"/>
      <p:bold r:id="rId45"/>
      <p:italic r:id="rId46"/>
      <p:boldItalic r:id="rId47"/>
    </p:embeddedFont>
    <p:embeddedFont>
      <p:font typeface="Nunito Medium"/>
      <p:regular r:id="rId48"/>
      <p:bold r:id="rId49"/>
      <p:italic r:id="rId50"/>
      <p:boldItalic r:id="rId51"/>
    </p:embeddedFont>
    <p:embeddedFont>
      <p:font typeface="Poppins Thin"/>
      <p:regular r:id="rId52"/>
      <p:bold r:id="rId53"/>
      <p:italic r:id="rId54"/>
      <p:boldItalic r:id="rId55"/>
    </p:embeddedFont>
    <p:embeddedFont>
      <p:font typeface="Lexend"/>
      <p:regular r:id="rId56"/>
      <p:bold r:id="rId57"/>
    </p:embeddedFont>
    <p:embeddedFont>
      <p:font typeface="Poppins ExtraBold"/>
      <p:bold r:id="rId58"/>
      <p:boldItalic r:id="rId59"/>
    </p:embeddedFont>
    <p:embeddedFont>
      <p:font typeface="Archivo"/>
      <p:regular r:id="rId60"/>
      <p:bold r:id="rId61"/>
      <p:italic r:id="rId62"/>
      <p:boldItalic r:id="rId63"/>
    </p:embeddedFont>
    <p:embeddedFont>
      <p:font typeface="Archivo Black"/>
      <p:bold r:id="rId64"/>
      <p:boldItalic r:id="rId65"/>
    </p:embeddedFont>
    <p:embeddedFont>
      <p:font typeface="Archivo SemiBold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5">
          <p15:clr>
            <a:srgbClr val="747775"/>
          </p15:clr>
        </p15:guide>
        <p15:guide id="2" orient="horz" pos="1170">
          <p15:clr>
            <a:srgbClr val="747775"/>
          </p15:clr>
        </p15:guide>
        <p15:guide id="3" orient="horz" pos="1399">
          <p15:clr>
            <a:srgbClr val="747775"/>
          </p15:clr>
        </p15:guide>
        <p15:guide id="4" pos="142">
          <p15:clr>
            <a:srgbClr val="747775"/>
          </p15:clr>
        </p15:guide>
        <p15:guide id="5" pos="5641">
          <p15:clr>
            <a:srgbClr val="747775"/>
          </p15:clr>
        </p15:guide>
        <p15:guide id="6" pos="2817">
          <p15:clr>
            <a:srgbClr val="747775"/>
          </p15:clr>
        </p15:guide>
        <p15:guide id="7" pos="2967">
          <p15:clr>
            <a:srgbClr val="747775"/>
          </p15:clr>
        </p15:guide>
        <p15:guide id="8" orient="horz" pos="3200">
          <p15:clr>
            <a:srgbClr val="747775"/>
          </p15:clr>
        </p15:guide>
        <p15:guide id="9" orient="horz" pos="916">
          <p15:clr>
            <a:srgbClr val="747775"/>
          </p15:clr>
        </p15:guide>
        <p15:guide id="10" orient="horz" pos="70">
          <p15:clr>
            <a:srgbClr val="747775"/>
          </p15:clr>
        </p15:guide>
        <p15:guide id="11" orient="horz" pos="14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D263F0-7F53-42A5-9574-EA586D39742B}">
  <a:tblStyle styleId="{0AD263F0-7F53-42A5-9574-EA586D39742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61797B2-B567-4A5B-A9A2-514067C3A93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5" orient="horz"/>
        <p:guide pos="1170" orient="horz"/>
        <p:guide pos="1399" orient="horz"/>
        <p:guide pos="142"/>
        <p:guide pos="5641"/>
        <p:guide pos="2817"/>
        <p:guide pos="2967"/>
        <p:guide pos="3200" orient="horz"/>
        <p:guide pos="916" orient="horz"/>
        <p:guide pos="70" orient="horz"/>
        <p:guide pos="1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PoppinsLight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PoppinsLight-italic.fntdata"/><Relationship Id="rId45" Type="http://schemas.openxmlformats.org/officeDocument/2006/relationships/font" Target="fonts/Poppi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NunitoMedium-regular.fntdata"/><Relationship Id="rId47" Type="http://schemas.openxmlformats.org/officeDocument/2006/relationships/font" Target="fonts/PoppinsLight-boldItalic.fntdata"/><Relationship Id="rId49" Type="http://schemas.openxmlformats.org/officeDocument/2006/relationships/font" Target="fonts/Nunito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font" Target="fonts/ArchivoExtraBold-boldItalic.fntdata"/><Relationship Id="rId38" Type="http://schemas.openxmlformats.org/officeDocument/2006/relationships/font" Target="fonts/ArchivoExtraBold-bold.fntdata"/><Relationship Id="rId62" Type="http://schemas.openxmlformats.org/officeDocument/2006/relationships/font" Target="fonts/Archivo-italic.fntdata"/><Relationship Id="rId61" Type="http://schemas.openxmlformats.org/officeDocument/2006/relationships/font" Target="fonts/Archivo-bold.fntdata"/><Relationship Id="rId20" Type="http://schemas.openxmlformats.org/officeDocument/2006/relationships/slide" Target="slides/slide12.xml"/><Relationship Id="rId64" Type="http://schemas.openxmlformats.org/officeDocument/2006/relationships/font" Target="fonts/ArchivoBlack-bold.fntdata"/><Relationship Id="rId63" Type="http://schemas.openxmlformats.org/officeDocument/2006/relationships/font" Target="fonts/Archivo-boldItalic.fntdata"/><Relationship Id="rId22" Type="http://schemas.openxmlformats.org/officeDocument/2006/relationships/slide" Target="slides/slide14.xml"/><Relationship Id="rId66" Type="http://schemas.openxmlformats.org/officeDocument/2006/relationships/font" Target="fonts/ArchivoSemiBold-regular.fntdata"/><Relationship Id="rId21" Type="http://schemas.openxmlformats.org/officeDocument/2006/relationships/slide" Target="slides/slide13.xml"/><Relationship Id="rId65" Type="http://schemas.openxmlformats.org/officeDocument/2006/relationships/font" Target="fonts/ArchivoBlack-boldItalic.fntdata"/><Relationship Id="rId24" Type="http://schemas.openxmlformats.org/officeDocument/2006/relationships/slide" Target="slides/slide16.xml"/><Relationship Id="rId68" Type="http://schemas.openxmlformats.org/officeDocument/2006/relationships/font" Target="fonts/ArchivoSemiBold-italic.fntdata"/><Relationship Id="rId23" Type="http://schemas.openxmlformats.org/officeDocument/2006/relationships/slide" Target="slides/slide15.xml"/><Relationship Id="rId67" Type="http://schemas.openxmlformats.org/officeDocument/2006/relationships/font" Target="fonts/ArchivoSemiBold-bold.fntdata"/><Relationship Id="rId60" Type="http://schemas.openxmlformats.org/officeDocument/2006/relationships/font" Target="fonts/Archivo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ArchivoSemiBold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NunitoMedium-boldItalic.fntdata"/><Relationship Id="rId50" Type="http://schemas.openxmlformats.org/officeDocument/2006/relationships/font" Target="fonts/NunitoMedium-italic.fntdata"/><Relationship Id="rId53" Type="http://schemas.openxmlformats.org/officeDocument/2006/relationships/font" Target="fonts/PoppinsThin-bold.fntdata"/><Relationship Id="rId52" Type="http://schemas.openxmlformats.org/officeDocument/2006/relationships/font" Target="fonts/PoppinsThin-regular.fntdata"/><Relationship Id="rId11" Type="http://schemas.openxmlformats.org/officeDocument/2006/relationships/slide" Target="slides/slide3.xml"/><Relationship Id="rId55" Type="http://schemas.openxmlformats.org/officeDocument/2006/relationships/font" Target="fonts/PoppinsThin-boldItalic.fntdata"/><Relationship Id="rId10" Type="http://schemas.openxmlformats.org/officeDocument/2006/relationships/slide" Target="slides/slide2.xml"/><Relationship Id="rId54" Type="http://schemas.openxmlformats.org/officeDocument/2006/relationships/font" Target="fonts/PoppinsThin-italic.fntdata"/><Relationship Id="rId13" Type="http://schemas.openxmlformats.org/officeDocument/2006/relationships/slide" Target="slides/slide5.xml"/><Relationship Id="rId57" Type="http://schemas.openxmlformats.org/officeDocument/2006/relationships/font" Target="fonts/Lexend-bold.fntdata"/><Relationship Id="rId12" Type="http://schemas.openxmlformats.org/officeDocument/2006/relationships/slide" Target="slides/slide4.xml"/><Relationship Id="rId56" Type="http://schemas.openxmlformats.org/officeDocument/2006/relationships/font" Target="fonts/Lexend-regular.fntdata"/><Relationship Id="rId15" Type="http://schemas.openxmlformats.org/officeDocument/2006/relationships/slide" Target="slides/slide7.xml"/><Relationship Id="rId59" Type="http://schemas.openxmlformats.org/officeDocument/2006/relationships/font" Target="fonts/PoppinsExtraBold-boldItalic.fntdata"/><Relationship Id="rId14" Type="http://schemas.openxmlformats.org/officeDocument/2006/relationships/slide" Target="slides/slide6.xml"/><Relationship Id="rId58" Type="http://schemas.openxmlformats.org/officeDocument/2006/relationships/font" Target="fonts/PoppinsExtraBold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130e5edd0_5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7130e5edd0_5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a55264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a55264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a55264f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9a55264f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1ebde0766_6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1ebde0766_6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1ebde0766_6_11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1ebde0766_6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1ebde0766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1ebde076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1ebde0766_6_1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f1ebde0766_6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1ebde0766_6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1ebde0766_6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1ebde0766_6_24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1ebde0766_6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1ebde0766_6_26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1ebde0766_6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f1ebde0766_6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f1ebde0766_6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1ebde0766_6_37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f1ebde0766_6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1ebde0766_6_38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f1ebde0766_6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1ebde0766_6_43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1ebde0766_6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1ebde0766_6_44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f1ebde0766_6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1ebde0766_6_51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1ebde0766_6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1ebde0766_6_52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f1ebde0766_6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1ebde0766_6_54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f1ebde0766_6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f1ebde0766_6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f1ebde0766_6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1ebde0766_6_65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f1ebde0766_6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f1ebde0766_6_66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f1ebde0766_6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f1ebde0766_6_7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f1ebde0766_6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f1ebde0766_6_751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f1ebde0766_6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potencial meta: 649.500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1ebde0766_6_81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f1ebde0766_6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1ebde0766_6_8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f1ebde0766_6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1ebde0766_6_84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f1ebde0766_6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77d5f06139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77d5f06139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74ec6ac9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74ec6ac9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77d5f06139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77d5f06139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0" name="Google Shape;60;p14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1" name="Google Shape;61;p14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6" name="Google Shape;66;p14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76" name="Google Shape;76;p15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84" name="Google Shape;84;p15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15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137" name="Google Shape;137;p16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147" name="Google Shape;147;p1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166" name="Google Shape;166;p2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170" name="Google Shape;170;p21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" name="Google Shape;17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7" name="Google Shape;20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7" name="Google Shape;217;p33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3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26" name="Google Shape;226;p35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227" name="Google Shape;227;p3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35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1" name="Google Shape;231;p35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232" name="Google Shape;232;p35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5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5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35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6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36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242" name="Google Shape;242;p36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3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249" name="Google Shape;249;p36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250" name="Google Shape;250;p36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6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36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253" name="Google Shape;253;p36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254" name="Google Shape;254;p36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36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36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6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36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36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36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36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36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36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36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36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36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36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36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36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6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36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36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273" name="Google Shape;273;p36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6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6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6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36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279" name="Google Shape;279;p36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36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36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36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36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36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36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36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36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6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36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36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36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36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9" name="Google Shape;299;p36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7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303" name="Google Shape;303;p37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3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7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8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313" name="Google Shape;313;p38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38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3" name="Google Shape;323;p39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6" name="Google Shape;33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3" name="Google Shape;3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6" name="Google Shape;346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5" name="Google Shape;35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2" name="Google Shape;362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3" name="Google Shape;363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67" name="Google Shape;36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4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4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Julio 2026</a:t>
            </a:r>
            <a:endParaRPr sz="1000">
              <a:solidFill>
                <a:srgbClr val="123546"/>
              </a:solidFill>
            </a:endParaRPr>
          </a:p>
        </p:txBody>
      </p:sp>
      <p:sp>
        <p:nvSpPr>
          <p:cNvPr id="379" name="Google Shape;379;p54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6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6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6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6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- Noviembre 2025</a:t>
            </a:r>
            <a:endParaRPr sz="1000">
              <a:solidFill>
                <a:srgbClr val="123546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8" name="Google Shape;388;p57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389" name="Google Shape;389;p57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7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7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57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393" name="Google Shape;393;p57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7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7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 1">
  <p:cSld name="Diapositiva con título 21 1 (g3e24228a32e_19_0)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">
  <p:cSld name="TITLE_AND_BODY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9" title="Artboard 4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60" title="Artboard 41.jpg"/>
          <p:cNvPicPr preferRelativeResize="0"/>
          <p:nvPr/>
        </p:nvPicPr>
        <p:blipFill rotWithShape="1">
          <a:blip r:embed="rId2">
            <a:alphaModFix/>
          </a:blip>
          <a:srcRect b="4875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OHcZnKUMYD3y0BLhZRdvHhzJa07FcLDi/view" TargetMode="External"/><Relationship Id="rId4" Type="http://schemas.openxmlformats.org/officeDocument/2006/relationships/image" Target="../media/image39.jp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19.png"/><Relationship Id="rId5" Type="http://schemas.openxmlformats.org/officeDocument/2006/relationships/image" Target="../media/image4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8.jp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hyperlink" Target="http://drive.google.com/file/d/1zG3o7R7DaPDFDc2Kbr9Ki-AG86QB2u66/view" TargetMode="External"/><Relationship Id="rId8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43.png"/><Relationship Id="rId5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Relationship Id="rId4" Type="http://schemas.openxmlformats.org/officeDocument/2006/relationships/hyperlink" Target="http://x.com/slospennato/status/2072038483233747398" TargetMode="External"/><Relationship Id="rId5" Type="http://schemas.openxmlformats.org/officeDocument/2006/relationships/hyperlink" Target="http://x.com/trebuquero/status/2071689735156670539" TargetMode="External"/><Relationship Id="rId6" Type="http://schemas.openxmlformats.org/officeDocument/2006/relationships/hyperlink" Target="http://x.com/gonziver/status/2071599050613231847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/>
        </p:nvSpPr>
        <p:spPr>
          <a:xfrm>
            <a:off x="1012979" y="2873056"/>
            <a:ext cx="40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/06  AL 03/07</a:t>
            </a:r>
            <a:endParaRPr sz="1500">
              <a:solidFill>
                <a:srgbClr val="8DE2D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06" name="Google Shape;406;p61"/>
          <p:cNvSpPr/>
          <p:nvPr/>
        </p:nvSpPr>
        <p:spPr>
          <a:xfrm>
            <a:off x="503549" y="103177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- JM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2" name="Google Shape;412;p62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3" name="Google Shape;413;p62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62"/>
          <p:cNvSpPr/>
          <p:nvPr/>
        </p:nvSpPr>
        <p:spPr>
          <a:xfrm>
            <a:off x="5918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4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5" name="Google Shape;415;p62"/>
          <p:cNvSpPr/>
          <p:nvPr/>
        </p:nvSpPr>
        <p:spPr>
          <a:xfrm>
            <a:off x="6687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416" name="Google Shape;416;p62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7" name="Google Shape;417;p62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497.834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8" name="Google Shape;418;p62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9" name="Google Shape;419;p62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4.687.533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20" name="Google Shape;420;p62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1" name="Google Shape;421;p62"/>
          <p:cNvSpPr/>
          <p:nvPr/>
        </p:nvSpPr>
        <p:spPr>
          <a:xfrm>
            <a:off x="6790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2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62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24" name="Google Shape;424;p62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25" name="Google Shape;425;p62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6" name="Google Shape;426;p62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7" name="Google Shape;427;p62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8" name="Google Shape;428;p62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429" name="Google Shape;429;p62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430" name="Google Shape;430;p62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2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432" name="Google Shape;432;p62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3" name="Google Shape;433;p62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4" name="Google Shape;434;p62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5" name="Google Shape;435;p62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6" name="Google Shape;436;p62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7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7" name="Google Shape;437;p62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12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62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39" name="Google Shape;439;p62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62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1" name="Google Shape;441;p62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6.543.178</a:t>
            </a:r>
            <a:endParaRPr b="1" sz="1777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 estimada: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,1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3" name="Google Shape;443;p62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44" name="Google Shape;444;p62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62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6" name="Google Shape;446;p62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62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48" name="Google Shape;448;p62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2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2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2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2" name="Google Shape;452;p62"/>
          <p:cNvCxnSpPr/>
          <p:nvPr/>
        </p:nvCxnSpPr>
        <p:spPr>
          <a:xfrm flipH="1" rot="10800000">
            <a:off x="6096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p62"/>
          <p:cNvSpPr/>
          <p:nvPr/>
        </p:nvSpPr>
        <p:spPr>
          <a:xfrm>
            <a:off x="5891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633.933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4" name="Google Shape;454;p62"/>
          <p:cNvSpPr txBox="1"/>
          <p:nvPr/>
        </p:nvSpPr>
        <p:spPr>
          <a:xfrm>
            <a:off x="6050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166.765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(26%)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55" name="Google Shape;455;p62"/>
          <p:cNvCxnSpPr/>
          <p:nvPr/>
        </p:nvCxnSpPr>
        <p:spPr>
          <a:xfrm flipH="1" rot="10800000">
            <a:off x="6050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6" name="Google Shape;456;p62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7" name="Google Shape;457;p62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1.357.811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8" name="Google Shape;458;p62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62" title="meta-1236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3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 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- GCBA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5" name="Google Shape;465;p63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6" name="Google Shape;466;p63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7" name="Google Shape;467;p63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8" name="Google Shape;468;p63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9" name="Google Shape;469;p63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10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0" name="Google Shape;470;p63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318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1" name="Google Shape;471;p63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2" name="Google Shape;472;p63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88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63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141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4" name="Google Shape;474;p63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75" name="Google Shape;475;p63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63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77" name="Google Shape;477;p63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83.223.210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8" name="Google Shape;478;p63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 estimada: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19,9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9" name="Google Shape;479;p63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80" name="Google Shape;480;p63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63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2" name="Google Shape;482;p63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3" name="Google Shape;483;p63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12.076.136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6947250" y="2090651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1.136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86" name="Google Shape;486;p63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7" name="Google Shape;487;p63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8" name="Google Shape;488;p63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47.860.661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89" name="Google Shape;489;p63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0" name="Google Shape;490;p63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63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92" name="Google Shape;492;p63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3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3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3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63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7" name="Google Shape;497;p63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98" name="Google Shape;498;p63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99" name="Google Shape;499;p63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0" name="Google Shape;500;p63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1" name="Google Shape;501;p63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2" name="Google Shape;502;p63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503" name="Google Shape;503;p63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04" name="Google Shape;504;p63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505" name="Google Shape;505;p63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3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7" name="Google Shape;507;p63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3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09" name="Google Shape;509;p63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68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0" name="Google Shape;510;p63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511" name="Google Shape;511;p63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63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3" name="Google Shape;513;p63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3.310.006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967.387 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(29%)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15" name="Google Shape;515;p63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6" name="Google Shape;516;p63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357</a:t>
            </a: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(31%)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7" name="Google Shape;517;p63"/>
          <p:cNvSpPr/>
          <p:nvPr/>
        </p:nvSpPr>
        <p:spPr>
          <a:xfrm>
            <a:off x="6945800" y="3551370"/>
            <a:ext cx="20040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2 </a:t>
            </a: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envíos de SMS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8" name="Google Shape;518;p63"/>
          <p:cNvSpPr/>
          <p:nvPr/>
        </p:nvSpPr>
        <p:spPr>
          <a:xfrm>
            <a:off x="6947643" y="3961205"/>
            <a:ext cx="20040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SMS entregados: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138.983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9" name="Google Shape;519;p63"/>
          <p:cNvSpPr/>
          <p:nvPr/>
        </p:nvSpPr>
        <p:spPr>
          <a:xfrm>
            <a:off x="7759271" y="3369768"/>
            <a:ext cx="3948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520" name="Google Shape;520;p63"/>
          <p:cNvCxnSpPr/>
          <p:nvPr/>
        </p:nvCxnSpPr>
        <p:spPr>
          <a:xfrm flipH="1" rot="10800000">
            <a:off x="7100448" y="4535990"/>
            <a:ext cx="1694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521" name="Google Shape;521;p63" title="char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554" y="3438085"/>
            <a:ext cx="217128" cy="199447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3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3" name="Google Shape;523;p63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23.286.413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4" name="Google Shape;524;p63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63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3"/>
          <p:cNvSpPr txBox="1"/>
          <p:nvPr/>
        </p:nvSpPr>
        <p:spPr>
          <a:xfrm>
            <a:off x="7057745" y="4622237"/>
            <a:ext cx="18525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669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7" name="Google Shape;527;p63"/>
          <p:cNvSpPr/>
          <p:nvPr/>
        </p:nvSpPr>
        <p:spPr>
          <a:xfrm>
            <a:off x="4775026" y="3554728"/>
            <a:ext cx="2005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campaña de IVR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8" name="Google Shape;528;p63"/>
          <p:cNvSpPr/>
          <p:nvPr/>
        </p:nvSpPr>
        <p:spPr>
          <a:xfrm>
            <a:off x="4776870" y="3964562"/>
            <a:ext cx="2005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Audiencia: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291.240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9" name="Google Shape;529;p63"/>
          <p:cNvSpPr txBox="1"/>
          <p:nvPr/>
        </p:nvSpPr>
        <p:spPr>
          <a:xfrm>
            <a:off x="4929816" y="4662872"/>
            <a:ext cx="16998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Llamados atendidos:</a:t>
            </a:r>
            <a:endParaRPr sz="551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2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19.123 </a:t>
            </a:r>
            <a:r>
              <a:rPr b="1" lang="es" sz="1022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(7%)</a:t>
            </a:r>
            <a:endParaRPr b="1" sz="1022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30" name="Google Shape;530;p63"/>
          <p:cNvCxnSpPr/>
          <p:nvPr/>
        </p:nvCxnSpPr>
        <p:spPr>
          <a:xfrm flipH="1" rot="10800000">
            <a:off x="4929812" y="4539348"/>
            <a:ext cx="16962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1" name="Google Shape;531;p63"/>
          <p:cNvSpPr/>
          <p:nvPr/>
        </p:nvSpPr>
        <p:spPr>
          <a:xfrm>
            <a:off x="5589226" y="3373125"/>
            <a:ext cx="3951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sp>
        <p:nvSpPr>
          <p:cNvPr id="532" name="Google Shape;532;p63"/>
          <p:cNvSpPr/>
          <p:nvPr/>
        </p:nvSpPr>
        <p:spPr>
          <a:xfrm>
            <a:off x="5705466" y="3487966"/>
            <a:ext cx="162751" cy="139046"/>
          </a:xfrm>
          <a:custGeom>
            <a:rect b="b" l="l" r="r" t="t"/>
            <a:pathLst>
              <a:path extrusionOk="0" h="680" w="604">
                <a:moveTo>
                  <a:pt x="586" y="527"/>
                </a:moveTo>
                <a:lnTo>
                  <a:pt x="495" y="425"/>
                </a:lnTo>
                <a:cubicBezTo>
                  <a:pt x="477" y="405"/>
                  <a:pt x="447" y="405"/>
                  <a:pt x="428" y="426"/>
                </a:cubicBezTo>
                <a:lnTo>
                  <a:pt x="382" y="478"/>
                </a:lnTo>
                <a:cubicBezTo>
                  <a:pt x="379" y="476"/>
                  <a:pt x="376" y="474"/>
                  <a:pt x="373" y="472"/>
                </a:cubicBezTo>
                <a:cubicBezTo>
                  <a:pt x="344" y="454"/>
                  <a:pt x="305" y="430"/>
                  <a:pt x="263" y="383"/>
                </a:cubicBezTo>
                <a:cubicBezTo>
                  <a:pt x="221" y="336"/>
                  <a:pt x="199" y="291"/>
                  <a:pt x="183" y="259"/>
                </a:cubicBezTo>
                <a:cubicBezTo>
                  <a:pt x="181" y="255"/>
                  <a:pt x="180" y="252"/>
                  <a:pt x="178" y="249"/>
                </a:cubicBezTo>
                <a:lnTo>
                  <a:pt x="209" y="215"/>
                </a:lnTo>
                <a:lnTo>
                  <a:pt x="224" y="198"/>
                </a:lnTo>
                <a:cubicBezTo>
                  <a:pt x="243" y="176"/>
                  <a:pt x="243" y="143"/>
                  <a:pt x="225" y="122"/>
                </a:cubicBezTo>
                <a:lnTo>
                  <a:pt x="134" y="20"/>
                </a:lnTo>
                <a:cubicBezTo>
                  <a:pt x="116" y="0"/>
                  <a:pt x="86" y="1"/>
                  <a:pt x="67" y="22"/>
                </a:cubicBezTo>
                <a:lnTo>
                  <a:pt x="41" y="51"/>
                </a:lnTo>
                <a:lnTo>
                  <a:pt x="42" y="52"/>
                </a:lnTo>
                <a:cubicBezTo>
                  <a:pt x="34" y="64"/>
                  <a:pt x="26" y="78"/>
                  <a:pt x="21" y="93"/>
                </a:cubicBezTo>
                <a:cubicBezTo>
                  <a:pt x="16" y="108"/>
                  <a:pt x="13" y="122"/>
                  <a:pt x="12" y="136"/>
                </a:cubicBezTo>
                <a:cubicBezTo>
                  <a:pt x="0" y="247"/>
                  <a:pt x="45" y="350"/>
                  <a:pt x="169" y="488"/>
                </a:cubicBezTo>
                <a:cubicBezTo>
                  <a:pt x="340" y="680"/>
                  <a:pt x="477" y="665"/>
                  <a:pt x="483" y="664"/>
                </a:cubicBezTo>
                <a:cubicBezTo>
                  <a:pt x="496" y="663"/>
                  <a:pt x="509" y="659"/>
                  <a:pt x="521" y="654"/>
                </a:cubicBezTo>
                <a:cubicBezTo>
                  <a:pt x="535" y="648"/>
                  <a:pt x="547" y="640"/>
                  <a:pt x="558" y="630"/>
                </a:cubicBezTo>
                <a:lnTo>
                  <a:pt x="559" y="631"/>
                </a:lnTo>
                <a:lnTo>
                  <a:pt x="585" y="602"/>
                </a:lnTo>
                <a:cubicBezTo>
                  <a:pt x="604" y="581"/>
                  <a:pt x="604" y="547"/>
                  <a:pt x="586" y="527"/>
                </a:cubicBezTo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4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4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64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1" name="Google Shape;541;p64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p64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543" name="Google Shape;543;p64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4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4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64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Uno a uno en comunas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7" name="Google Shape;547;p64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Comuna 10 (24/06)</a:t>
            </a:r>
            <a:endParaRPr sz="2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/>
          <p:nvPr/>
        </p:nvSpPr>
        <p:spPr>
          <a:xfrm>
            <a:off x="3200400" y="1636402"/>
            <a:ext cx="5577900" cy="2278500"/>
          </a:xfrm>
          <a:prstGeom prst="roundRect">
            <a:avLst>
              <a:gd fmla="val 5056" name="adj"/>
            </a:avLst>
          </a:prstGeom>
          <a:solidFill>
            <a:srgbClr val="F7FAFD"/>
          </a:solidFill>
          <a:ln cap="flat" cmpd="sng" w="12700">
            <a:solidFill>
              <a:srgbClr val="E1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5"/>
          <p:cNvSpPr/>
          <p:nvPr/>
        </p:nvSpPr>
        <p:spPr>
          <a:xfrm>
            <a:off x="274775" y="316622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65"/>
          <p:cNvGrpSpPr/>
          <p:nvPr/>
        </p:nvGrpSpPr>
        <p:grpSpPr>
          <a:xfrm>
            <a:off x="376133" y="394297"/>
            <a:ext cx="190480" cy="211556"/>
            <a:chOff x="2169088" y="811743"/>
            <a:chExt cx="3848087" cy="4273857"/>
          </a:xfrm>
        </p:grpSpPr>
        <p:sp>
          <p:nvSpPr>
            <p:cNvPr id="555" name="Google Shape;555;p6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65"/>
          <p:cNvSpPr txBox="1"/>
          <p:nvPr/>
        </p:nvSpPr>
        <p:spPr>
          <a:xfrm>
            <a:off x="740400" y="335693"/>
            <a:ext cx="4340400" cy="30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10 (24/06)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58" name="Google Shape;558;p65"/>
          <p:cNvSpPr/>
          <p:nvPr/>
        </p:nvSpPr>
        <p:spPr>
          <a:xfrm>
            <a:off x="457200" y="801350"/>
            <a:ext cx="2606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5"/>
          <p:cNvSpPr/>
          <p:nvPr/>
        </p:nvSpPr>
        <p:spPr>
          <a:xfrm>
            <a:off x="585216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03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5"/>
          <p:cNvSpPr/>
          <p:nvPr/>
        </p:nvSpPr>
        <p:spPr>
          <a:xfrm>
            <a:off x="1170432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83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62" name="Google Shape;562;p65"/>
          <p:cNvSpPr/>
          <p:nvPr/>
        </p:nvSpPr>
        <p:spPr>
          <a:xfrm>
            <a:off x="1179576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3" name="Google Shape;563;p65"/>
          <p:cNvSpPr/>
          <p:nvPr/>
        </p:nvSpPr>
        <p:spPr>
          <a:xfrm>
            <a:off x="3218725" y="805500"/>
            <a:ext cx="2723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5"/>
          <p:cNvSpPr/>
          <p:nvPr/>
        </p:nvSpPr>
        <p:spPr>
          <a:xfrm>
            <a:off x="3346743" y="951810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5" name="Google Shape;56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95" y="102496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5"/>
          <p:cNvSpPr/>
          <p:nvPr/>
        </p:nvSpPr>
        <p:spPr>
          <a:xfrm>
            <a:off x="3931959" y="895080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12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67" name="Google Shape;567;p65"/>
          <p:cNvSpPr/>
          <p:nvPr/>
        </p:nvSpPr>
        <p:spPr>
          <a:xfrm>
            <a:off x="3941103" y="1279128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8" name="Google Shape;568;p65"/>
          <p:cNvSpPr/>
          <p:nvPr/>
        </p:nvSpPr>
        <p:spPr>
          <a:xfrm>
            <a:off x="6089904" y="801343"/>
            <a:ext cx="26793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5"/>
          <p:cNvSpPr/>
          <p:nvPr/>
        </p:nvSpPr>
        <p:spPr>
          <a:xfrm>
            <a:off x="6217920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0" name="Google Shape;57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1029943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5"/>
          <p:cNvSpPr/>
          <p:nvPr/>
        </p:nvSpPr>
        <p:spPr>
          <a:xfrm>
            <a:off x="6803136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6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6812280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Minutos promedio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3" name="Google Shape;573;p65"/>
          <p:cNvSpPr/>
          <p:nvPr/>
        </p:nvSpPr>
        <p:spPr>
          <a:xfrm>
            <a:off x="457200" y="1636402"/>
            <a:ext cx="2606100" cy="2278500"/>
          </a:xfrm>
          <a:prstGeom prst="roundRect">
            <a:avLst>
              <a:gd fmla="val 5056" name="adj"/>
            </a:avLst>
          </a:prstGeom>
          <a:solidFill>
            <a:srgbClr val="EAF3FB"/>
          </a:solidFill>
          <a:ln cap="flat" cmpd="sng" w="12700">
            <a:solidFill>
              <a:srgbClr val="D5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5"/>
          <p:cNvSpPr/>
          <p:nvPr/>
        </p:nvSpPr>
        <p:spPr>
          <a:xfrm>
            <a:off x="585216" y="1764411"/>
            <a:ext cx="4572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5" name="Google Shape;575;p65"/>
          <p:cNvSpPr/>
          <p:nvPr/>
        </p:nvSpPr>
        <p:spPr>
          <a:xfrm>
            <a:off x="585216" y="1764411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5"/>
          <p:cNvSpPr/>
          <p:nvPr/>
        </p:nvSpPr>
        <p:spPr>
          <a:xfrm>
            <a:off x="1115568" y="1746123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r>
              <a:rPr i="0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  Meta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585216" y="2093595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5"/>
          <p:cNvSpPr/>
          <p:nvPr/>
        </p:nvSpPr>
        <p:spPr>
          <a:xfrm>
            <a:off x="676656" y="2157603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79" name="Google Shape;57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198751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5"/>
          <p:cNvSpPr/>
          <p:nvPr/>
        </p:nvSpPr>
        <p:spPr>
          <a:xfrm>
            <a:off x="950976" y="2093595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1" name="Google Shape;581;p65"/>
          <p:cNvSpPr/>
          <p:nvPr/>
        </p:nvSpPr>
        <p:spPr>
          <a:xfrm>
            <a:off x="1645925" y="209360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13.719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2" name="Google Shape;582;p65"/>
          <p:cNvSpPr/>
          <p:nvPr/>
        </p:nvSpPr>
        <p:spPr>
          <a:xfrm>
            <a:off x="585216" y="2491359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5"/>
          <p:cNvSpPr/>
          <p:nvPr/>
        </p:nvSpPr>
        <p:spPr>
          <a:xfrm>
            <a:off x="676656" y="2555367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84" name="Google Shape;584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596515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5"/>
          <p:cNvSpPr/>
          <p:nvPr/>
        </p:nvSpPr>
        <p:spPr>
          <a:xfrm>
            <a:off x="950976" y="2491359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i="0" lang="es" sz="8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6" name="Google Shape;586;p65"/>
          <p:cNvSpPr/>
          <p:nvPr/>
        </p:nvSpPr>
        <p:spPr>
          <a:xfrm>
            <a:off x="1645925" y="249135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23.352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7" name="Google Shape;587;p65"/>
          <p:cNvSpPr/>
          <p:nvPr/>
        </p:nvSpPr>
        <p:spPr>
          <a:xfrm>
            <a:off x="585216" y="2889123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5"/>
          <p:cNvSpPr/>
          <p:nvPr/>
        </p:nvSpPr>
        <p:spPr>
          <a:xfrm>
            <a:off x="676656" y="2953131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89" name="Google Shape;58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994279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5"/>
          <p:cNvSpPr/>
          <p:nvPr/>
        </p:nvSpPr>
        <p:spPr>
          <a:xfrm>
            <a:off x="950976" y="2889123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1" name="Google Shape;591;p65"/>
          <p:cNvSpPr/>
          <p:nvPr/>
        </p:nvSpPr>
        <p:spPr>
          <a:xfrm>
            <a:off x="1645925" y="2889125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899 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(3,9%)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2" name="Google Shape;592;p65"/>
          <p:cNvSpPr/>
          <p:nvPr/>
        </p:nvSpPr>
        <p:spPr>
          <a:xfrm>
            <a:off x="3328416" y="1764411"/>
            <a:ext cx="5121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3" name="Google Shape;593;p65"/>
          <p:cNvSpPr/>
          <p:nvPr/>
        </p:nvSpPr>
        <p:spPr>
          <a:xfrm>
            <a:off x="3328416" y="1764411"/>
            <a:ext cx="51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5"/>
          <p:cNvSpPr/>
          <p:nvPr/>
        </p:nvSpPr>
        <p:spPr>
          <a:xfrm>
            <a:off x="3328425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A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5"/>
          <p:cNvSpPr/>
          <p:nvPr/>
        </p:nvSpPr>
        <p:spPr>
          <a:xfrm>
            <a:off x="3438144" y="2203323"/>
            <a:ext cx="237600" cy="2376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96" name="Google Shape;596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3864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5"/>
          <p:cNvSpPr/>
          <p:nvPr/>
        </p:nvSpPr>
        <p:spPr>
          <a:xfrm>
            <a:off x="3730752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8" name="Google Shape;598;p65"/>
          <p:cNvSpPr/>
          <p:nvPr/>
        </p:nvSpPr>
        <p:spPr>
          <a:xfrm>
            <a:off x="3456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3456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100.131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0" name="Google Shape;600;p65"/>
          <p:cNvSpPr/>
          <p:nvPr/>
        </p:nvSpPr>
        <p:spPr>
          <a:xfrm>
            <a:off x="5138937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FD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5"/>
          <p:cNvSpPr/>
          <p:nvPr/>
        </p:nvSpPr>
        <p:spPr>
          <a:xfrm>
            <a:off x="5248656" y="2203323"/>
            <a:ext cx="237600" cy="237600"/>
          </a:xfrm>
          <a:prstGeom prst="ellipse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02" name="Google Shape;602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4376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5"/>
          <p:cNvSpPr/>
          <p:nvPr/>
        </p:nvSpPr>
        <p:spPr>
          <a:xfrm>
            <a:off x="5541264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4" name="Google Shape;604;p65"/>
          <p:cNvSpPr/>
          <p:nvPr/>
        </p:nvSpPr>
        <p:spPr>
          <a:xfrm>
            <a:off x="6949450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7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5"/>
          <p:cNvSpPr/>
          <p:nvPr/>
        </p:nvSpPr>
        <p:spPr>
          <a:xfrm>
            <a:off x="7059168" y="2203323"/>
            <a:ext cx="237600" cy="237600"/>
          </a:xfrm>
          <a:prstGeom prst="ellipse">
            <a:avLst/>
          </a:prstGeom>
          <a:solidFill>
            <a:srgbClr val="9FD9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06" name="Google Shape;606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0316" y="2244471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5"/>
          <p:cNvSpPr/>
          <p:nvPr/>
        </p:nvSpPr>
        <p:spPr>
          <a:xfrm>
            <a:off x="7351776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8" name="Google Shape;608;p65"/>
          <p:cNvSpPr/>
          <p:nvPr/>
        </p:nvSpPr>
        <p:spPr>
          <a:xfrm>
            <a:off x="457200" y="4001044"/>
            <a:ext cx="8321100" cy="777300"/>
          </a:xfrm>
          <a:prstGeom prst="roundRect">
            <a:avLst>
              <a:gd fmla="val 11765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5"/>
          <p:cNvSpPr/>
          <p:nvPr/>
        </p:nvSpPr>
        <p:spPr>
          <a:xfrm>
            <a:off x="658368" y="4119916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PRE + POST</a:t>
            </a:r>
            <a:endParaRPr i="0" sz="7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658368" y="4249821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" sz="1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Resultados parciales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658368" y="4487565"/>
            <a:ext cx="173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800"/>
              <a:buFont typeface="Archivo"/>
              <a:buNone/>
            </a:pPr>
            <a:r>
              <a:rPr i="1" lang="es" sz="8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Fecha de fin: 10/7</a:t>
            </a:r>
            <a:endParaRPr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2" name="Google Shape;612;p65"/>
          <p:cNvSpPr/>
          <p:nvPr/>
        </p:nvSpPr>
        <p:spPr>
          <a:xfrm>
            <a:off x="251460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5"/>
          <p:cNvSpPr/>
          <p:nvPr/>
        </p:nvSpPr>
        <p:spPr>
          <a:xfrm>
            <a:off x="251460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107.054</a:t>
            </a:r>
            <a:endParaRPr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253288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374904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5"/>
          <p:cNvSpPr/>
          <p:nvPr/>
        </p:nvSpPr>
        <p:spPr>
          <a:xfrm>
            <a:off x="374904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chivo"/>
              <a:buNone/>
            </a:pPr>
            <a:r>
              <a:rPr b="1" i="0" lang="es" sz="12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1.251.395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7" name="Google Shape;617;p65"/>
          <p:cNvSpPr/>
          <p:nvPr/>
        </p:nvSpPr>
        <p:spPr>
          <a:xfrm>
            <a:off x="376732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8" name="Google Shape;618;p65"/>
          <p:cNvSpPr/>
          <p:nvPr/>
        </p:nvSpPr>
        <p:spPr>
          <a:xfrm>
            <a:off x="498348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5"/>
          <p:cNvSpPr/>
          <p:nvPr/>
        </p:nvSpPr>
        <p:spPr>
          <a:xfrm>
            <a:off x="498348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11,6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0" name="Google Shape;620;p65"/>
          <p:cNvSpPr/>
          <p:nvPr/>
        </p:nvSpPr>
        <p:spPr>
          <a:xfrm>
            <a:off x="500176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7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65"/>
          <p:cNvSpPr/>
          <p:nvPr/>
        </p:nvSpPr>
        <p:spPr>
          <a:xfrm>
            <a:off x="621792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5"/>
          <p:cNvSpPr/>
          <p:nvPr/>
        </p:nvSpPr>
        <p:spPr>
          <a:xfrm>
            <a:off x="621792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804.590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3" name="Google Shape;623;p65"/>
          <p:cNvSpPr/>
          <p:nvPr/>
        </p:nvSpPr>
        <p:spPr>
          <a:xfrm>
            <a:off x="623620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4" name="Google Shape;624;p65"/>
          <p:cNvSpPr/>
          <p:nvPr/>
        </p:nvSpPr>
        <p:spPr>
          <a:xfrm>
            <a:off x="745236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5"/>
          <p:cNvSpPr/>
          <p:nvPr/>
        </p:nvSpPr>
        <p:spPr>
          <a:xfrm>
            <a:off x="745236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2.352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6" name="Google Shape;626;p65"/>
          <p:cNvSpPr/>
          <p:nvPr/>
        </p:nvSpPr>
        <p:spPr>
          <a:xfrm>
            <a:off x="747064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7" name="Google Shape;627;p65"/>
          <p:cNvSpPr/>
          <p:nvPr/>
        </p:nvSpPr>
        <p:spPr>
          <a:xfrm>
            <a:off x="3456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65"/>
          <p:cNvSpPr/>
          <p:nvPr/>
        </p:nvSpPr>
        <p:spPr>
          <a:xfrm>
            <a:off x="3456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151.343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9" name="Google Shape;629;p65"/>
          <p:cNvSpPr/>
          <p:nvPr/>
        </p:nvSpPr>
        <p:spPr>
          <a:xfrm>
            <a:off x="3456445" y="33030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0" name="Google Shape;630;p65"/>
          <p:cNvSpPr/>
          <p:nvPr/>
        </p:nvSpPr>
        <p:spPr>
          <a:xfrm>
            <a:off x="3456470" y="34657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21.767</a:t>
            </a:r>
            <a:r>
              <a:rPr b="1" lang="es" sz="9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(14,3%)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1" name="Google Shape;631;p65"/>
          <p:cNvSpPr/>
          <p:nvPr/>
        </p:nvSpPr>
        <p:spPr>
          <a:xfrm>
            <a:off x="5266944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2" name="Google Shape;632;p65"/>
          <p:cNvSpPr/>
          <p:nvPr/>
        </p:nvSpPr>
        <p:spPr>
          <a:xfrm>
            <a:off x="5266969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100.921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3" name="Google Shape;633;p65"/>
          <p:cNvSpPr/>
          <p:nvPr/>
        </p:nvSpPr>
        <p:spPr>
          <a:xfrm>
            <a:off x="5266944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4" name="Google Shape;634;p65"/>
          <p:cNvSpPr/>
          <p:nvPr/>
        </p:nvSpPr>
        <p:spPr>
          <a:xfrm>
            <a:off x="5266969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50.859 </a:t>
            </a:r>
            <a:r>
              <a:rPr b="1" lang="es" sz="10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(50,3%)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5" name="Google Shape;635;p65"/>
          <p:cNvSpPr/>
          <p:nvPr/>
        </p:nvSpPr>
        <p:spPr>
          <a:xfrm>
            <a:off x="7077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6" name="Google Shape;636;p65"/>
          <p:cNvSpPr/>
          <p:nvPr/>
        </p:nvSpPr>
        <p:spPr>
          <a:xfrm>
            <a:off x="7077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975.779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7" name="Google Shape;637;p65"/>
          <p:cNvSpPr/>
          <p:nvPr/>
        </p:nvSpPr>
        <p:spPr>
          <a:xfrm>
            <a:off x="7077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8" name="Google Shape;638;p65"/>
          <p:cNvSpPr/>
          <p:nvPr/>
        </p:nvSpPr>
        <p:spPr>
          <a:xfrm>
            <a:off x="7077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731.964 </a:t>
            </a:r>
            <a:r>
              <a:rPr b="1" lang="es" sz="10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(75%)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9" name="Google Shape;639;p65"/>
          <p:cNvSpPr/>
          <p:nvPr/>
        </p:nvSpPr>
        <p:spPr>
          <a:xfrm>
            <a:off x="598950" y="3322575"/>
            <a:ext cx="2349900" cy="3291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5"/>
          <p:cNvSpPr/>
          <p:nvPr/>
        </p:nvSpPr>
        <p:spPr>
          <a:xfrm>
            <a:off x="726975" y="3381535"/>
            <a:ext cx="215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2,08%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1" name="Google Shape;641;p65"/>
          <p:cNvSpPr/>
          <p:nvPr/>
        </p:nvSpPr>
        <p:spPr>
          <a:xfrm>
            <a:off x="3913632" y="1746123"/>
            <a:ext cx="480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Difusión</a:t>
            </a:r>
            <a:r>
              <a:rPr i="1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(parcial)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65"/>
          <p:cNvSpPr/>
          <p:nvPr/>
        </p:nvSpPr>
        <p:spPr>
          <a:xfrm>
            <a:off x="5138925" y="1720825"/>
            <a:ext cx="3511200" cy="2925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5"/>
          <p:cNvSpPr/>
          <p:nvPr/>
        </p:nvSpPr>
        <p:spPr>
          <a:xfrm>
            <a:off x="5266950" y="1760792"/>
            <a:ext cx="332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81,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77,4%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6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6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66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2" name="Google Shape;652;p66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66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54" name="Google Shape;654;p66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6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6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66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Comunicaciones Post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8" name="Google Shape;658;p66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JM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7"/>
          <p:cNvSpPr/>
          <p:nvPr/>
        </p:nvSpPr>
        <p:spPr>
          <a:xfrm>
            <a:off x="274775" y="292135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4" name="Google Shape;664;p67"/>
          <p:cNvGrpSpPr/>
          <p:nvPr/>
        </p:nvGrpSpPr>
        <p:grpSpPr>
          <a:xfrm>
            <a:off x="376133" y="369810"/>
            <a:ext cx="190480" cy="211556"/>
            <a:chOff x="2169088" y="811743"/>
            <a:chExt cx="3848087" cy="4273857"/>
          </a:xfrm>
        </p:grpSpPr>
        <p:sp>
          <p:nvSpPr>
            <p:cNvPr id="665" name="Google Shape;665;p6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67"/>
          <p:cNvSpPr txBox="1"/>
          <p:nvPr/>
        </p:nvSpPr>
        <p:spPr>
          <a:xfrm>
            <a:off x="740400" y="311200"/>
            <a:ext cx="470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Digital | Comunicaciones p</a:t>
            </a: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ost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aphicFrame>
        <p:nvGraphicFramePr>
          <p:cNvPr id="668" name="Google Shape;668;p67"/>
          <p:cNvGraphicFramePr/>
          <p:nvPr/>
        </p:nvGraphicFramePr>
        <p:xfrm>
          <a:off x="177520" y="11871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2681050"/>
                <a:gridCol w="965425"/>
                <a:gridCol w="1151350"/>
                <a:gridCol w="948650"/>
                <a:gridCol w="1169200"/>
                <a:gridCol w="939200"/>
                <a:gridCol w="1025350"/>
              </a:tblGrid>
              <a:tr h="64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Estado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7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Temática Salud Eje Norte (10/6)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Finalizada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16/06 al 30/06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495.986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2.524.135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1.083.775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43%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Temática Educación Eje Oeste (16/6)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Activa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23/06 al 03/07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412.696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2.558.808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1.156.102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69" name="Google Shape;669;p67"/>
          <p:cNvSpPr txBox="1"/>
          <p:nvPr/>
        </p:nvSpPr>
        <p:spPr>
          <a:xfrm>
            <a:off x="177520" y="3567780"/>
            <a:ext cx="6199800" cy="2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VTR</a:t>
            </a: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ECVs: 63,3%. Uno a uno: 59,9%. Temáticas: 49,1%. Primera persona: 51,6%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8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68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68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68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8" name="Google Shape;678;p68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9" name="Google Shape;679;p68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80" name="Google Shape;680;p68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8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8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3" name="Google Shape;683;p68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4" name="Google Shape;684;p68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9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69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691" name="Google Shape;691;p6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3" name="Google Shape;693;p69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Status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694" name="Google Shape;694;p69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5" name="Google Shape;695;p69"/>
          <p:cNvSpPr/>
          <p:nvPr/>
        </p:nvSpPr>
        <p:spPr>
          <a:xfrm>
            <a:off x="384300" y="919370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6" name="Google Shape;696;p69"/>
          <p:cNvSpPr/>
          <p:nvPr/>
        </p:nvSpPr>
        <p:spPr>
          <a:xfrm>
            <a:off x="1719220" y="2426378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994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7" name="Google Shape;697;p69"/>
          <p:cNvSpPr/>
          <p:nvPr/>
        </p:nvSpPr>
        <p:spPr>
          <a:xfrm>
            <a:off x="1719220" y="1665254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95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88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1.075.914</a:t>
            </a:r>
            <a:endParaRPr sz="1988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698" name="Google Shape;698;p69"/>
          <p:cNvGrpSpPr/>
          <p:nvPr/>
        </p:nvGrpSpPr>
        <p:grpSpPr>
          <a:xfrm>
            <a:off x="1771755" y="2660443"/>
            <a:ext cx="156463" cy="107009"/>
            <a:chOff x="11542348" y="3083222"/>
            <a:chExt cx="361681" cy="274875"/>
          </a:xfrm>
        </p:grpSpPr>
        <p:sp>
          <p:nvSpPr>
            <p:cNvPr id="699" name="Google Shape;699;p6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00" name="Google Shape;700;p6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01" name="Google Shape;701;p69"/>
          <p:cNvSpPr/>
          <p:nvPr/>
        </p:nvSpPr>
        <p:spPr>
          <a:xfrm>
            <a:off x="1821571" y="3534363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309.608 </a:t>
            </a:r>
            <a:r>
              <a:rPr b="1" lang="es" sz="994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(29%)</a:t>
            </a:r>
            <a:endParaRPr b="1" sz="994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2" name="Google Shape;702;p69"/>
          <p:cNvSpPr/>
          <p:nvPr/>
        </p:nvSpPr>
        <p:spPr>
          <a:xfrm>
            <a:off x="1821336" y="3534352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3" name="Google Shape;703;p69"/>
          <p:cNvSpPr/>
          <p:nvPr/>
        </p:nvSpPr>
        <p:spPr>
          <a:xfrm>
            <a:off x="1821818" y="2926337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94">
                <a:latin typeface="Archivo"/>
                <a:ea typeface="Archivo"/>
                <a:cs typeface="Archivo"/>
                <a:sym typeface="Archivo"/>
              </a:rPr>
              <a:t>1.063.815</a:t>
            </a:r>
            <a:endParaRPr b="1" sz="994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4" name="Google Shape;704;p69"/>
          <p:cNvSpPr/>
          <p:nvPr/>
        </p:nvSpPr>
        <p:spPr>
          <a:xfrm>
            <a:off x="1821583" y="2926326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5" name="Google Shape;705;p69"/>
          <p:cNvSpPr/>
          <p:nvPr/>
        </p:nvSpPr>
        <p:spPr>
          <a:xfrm>
            <a:off x="1821448" y="4142410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8.792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(3%)</a:t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6" name="Google Shape;706;p69"/>
          <p:cNvSpPr/>
          <p:nvPr/>
        </p:nvSpPr>
        <p:spPr>
          <a:xfrm>
            <a:off x="1821213" y="4142399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7" name="Google Shape;707;p69"/>
          <p:cNvSpPr txBox="1"/>
          <p:nvPr/>
        </p:nvSpPr>
        <p:spPr>
          <a:xfrm>
            <a:off x="3915900" y="1954357"/>
            <a:ext cx="4350900" cy="3078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 trasplante renal pediátrico de dos hospitales de la Ciudad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 Dellepiane: Colectora Norte apertura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Ciudad Late Mundial (Devoto 16vos)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Cortes y desvíos por mundial descentralizado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Banco de herramientas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Vacunación Antirrábica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 servicios en tu barrio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VTV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 de obra (Av. Fernandez de la Cruz)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Trambús (Av. Honorio Pueyrredón)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Luminarias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Recambio tecnológico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Vías Peatonales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Pluviales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Repavimentación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8" name="Google Shape;708;p69"/>
          <p:cNvSpPr/>
          <p:nvPr/>
        </p:nvSpPr>
        <p:spPr>
          <a:xfrm>
            <a:off x="3915900" y="1672103"/>
            <a:ext cx="43509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16 Proyectos</a:t>
            </a:r>
            <a:endParaRPr b="1" sz="12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9" name="Google Shape;709;p69"/>
          <p:cNvSpPr/>
          <p:nvPr/>
        </p:nvSpPr>
        <p:spPr>
          <a:xfrm>
            <a:off x="5185446" y="1354582"/>
            <a:ext cx="19041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29 implementaciones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70"/>
          <p:cNvPicPr preferRelativeResize="0"/>
          <p:nvPr/>
        </p:nvPicPr>
        <p:blipFill rotWithShape="1">
          <a:blip r:embed="rId3">
            <a:alphaModFix/>
          </a:blip>
          <a:srcRect b="2988" l="2315" r="0" t="84265"/>
          <a:stretch/>
        </p:blipFill>
        <p:spPr>
          <a:xfrm>
            <a:off x="244050" y="4189715"/>
            <a:ext cx="8568626" cy="58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70"/>
          <p:cNvPicPr preferRelativeResize="0"/>
          <p:nvPr/>
        </p:nvPicPr>
        <p:blipFill rotWithShape="1">
          <a:blip r:embed="rId3">
            <a:alphaModFix/>
          </a:blip>
          <a:srcRect b="27725" l="2315" r="0" t="45313"/>
          <a:stretch/>
        </p:blipFill>
        <p:spPr>
          <a:xfrm>
            <a:off x="244050" y="2277525"/>
            <a:ext cx="8568626" cy="123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70"/>
          <p:cNvPicPr preferRelativeResize="0"/>
          <p:nvPr/>
        </p:nvPicPr>
        <p:blipFill rotWithShape="1">
          <a:blip r:embed="rId3">
            <a:alphaModFix/>
          </a:blip>
          <a:srcRect b="65787" l="2315" r="0" t="9959"/>
          <a:stretch/>
        </p:blipFill>
        <p:spPr>
          <a:xfrm>
            <a:off x="241897" y="768688"/>
            <a:ext cx="8568626" cy="11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70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70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719" name="Google Shape;719;p7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7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70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Caudal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722" name="Google Shape;722;p70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3" name="Google Shape;723;p70"/>
          <p:cNvSpPr/>
          <p:nvPr/>
        </p:nvSpPr>
        <p:spPr>
          <a:xfrm>
            <a:off x="204750" y="80443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Proyectos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24" name="Google Shape;724;p70"/>
          <p:cNvGraphicFramePr/>
          <p:nvPr/>
        </p:nvGraphicFramePr>
        <p:xfrm>
          <a:off x="226168" y="1855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5" name="Google Shape;725;p70"/>
          <p:cNvGraphicFramePr/>
          <p:nvPr/>
        </p:nvGraphicFramePr>
        <p:xfrm>
          <a:off x="226143" y="2033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726" name="Google Shape;726;p70"/>
          <p:cNvSpPr/>
          <p:nvPr/>
        </p:nvSpPr>
        <p:spPr>
          <a:xfrm>
            <a:off x="204750" y="239094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7" name="Google Shape;727;p70"/>
          <p:cNvSpPr/>
          <p:nvPr/>
        </p:nvSpPr>
        <p:spPr>
          <a:xfrm>
            <a:off x="204750" y="4001568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8" name="Google Shape;728;p70"/>
          <p:cNvSpPr/>
          <p:nvPr/>
        </p:nvSpPr>
        <p:spPr>
          <a:xfrm>
            <a:off x="8832067" y="1487451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21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9" name="Google Shape;729;p70"/>
          <p:cNvSpPr/>
          <p:nvPr/>
        </p:nvSpPr>
        <p:spPr>
          <a:xfrm>
            <a:off x="8832071" y="3062657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656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0" name="Google Shape;730;p70"/>
          <p:cNvSpPr/>
          <p:nvPr/>
        </p:nvSpPr>
        <p:spPr>
          <a:xfrm>
            <a:off x="8832071" y="4385795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22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31" name="Google Shape;731;p70"/>
          <p:cNvGraphicFramePr/>
          <p:nvPr/>
        </p:nvGraphicFramePr>
        <p:xfrm>
          <a:off x="226168" y="34987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2" name="Google Shape;732;p70"/>
          <p:cNvGraphicFramePr/>
          <p:nvPr/>
        </p:nvGraphicFramePr>
        <p:xfrm>
          <a:off x="226143" y="3676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3" name="Google Shape;733;p70"/>
          <p:cNvGraphicFramePr/>
          <p:nvPr/>
        </p:nvGraphicFramePr>
        <p:xfrm>
          <a:off x="226168" y="4737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70"/>
          <p:cNvGraphicFramePr/>
          <p:nvPr/>
        </p:nvGraphicFramePr>
        <p:xfrm>
          <a:off x="226143" y="4915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1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1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1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1"/>
          <p:cNvSpPr txBox="1"/>
          <p:nvPr/>
        </p:nvSpPr>
        <p:spPr>
          <a:xfrm>
            <a:off x="53850" y="1779000"/>
            <a:ext cx="9567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3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31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Decreto: Declaración de servicios esenciales</a:t>
            </a:r>
            <a:endParaRPr i="1" sz="30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43" name="Google Shape;743;p71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4" name="Google Shape;744;p71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0" name="Google Shape;750;p7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1" name="Google Shape;751;p7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52" name="Google Shape;752;p7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7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7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5" name="Google Shape;755;p72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6" name="Google Shape;756;p72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757" name="Google Shape;757;p72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758" name="Google Shape;758;p7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7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0" name="Google Shape;760;p72"/>
          <p:cNvSpPr/>
          <p:nvPr/>
        </p:nvSpPr>
        <p:spPr>
          <a:xfrm>
            <a:off x="1492800" y="3973543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24/06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08/07</a:t>
            </a:r>
            <a:endParaRPr b="1" i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1" name="Google Shape;761;p72"/>
          <p:cNvSpPr/>
          <p:nvPr/>
        </p:nvSpPr>
        <p:spPr>
          <a:xfrm>
            <a:off x="1527300" y="1882900"/>
            <a:ext cx="6089400" cy="1778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">
                <a:latin typeface="Archivo"/>
                <a:ea typeface="Archivo"/>
                <a:cs typeface="Archivo"/>
                <a:sym typeface="Archivo"/>
              </a:rPr>
              <a:t>Informar a los vecinos sobre el nuevo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decreto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que establece que, ante medidas de fuerza, los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subtes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, el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Premetro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y las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líneas de colectivos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que dependen de la Ciudad garanticen al menos el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50% de funcionamiento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. Además, la recolección de residuos deberá mantener una prestación mínima del 75%.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7" name="Google Shape;767;p7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7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69" name="Google Shape;769;p7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7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1" name="Google Shape;771;p73"/>
          <p:cNvSpPr txBox="1"/>
          <p:nvPr/>
        </p:nvSpPr>
        <p:spPr>
          <a:xfrm>
            <a:off x="758075" y="533075"/>
            <a:ext cx="4267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2" name="Google Shape;772;p73"/>
          <p:cNvSpPr/>
          <p:nvPr/>
        </p:nvSpPr>
        <p:spPr>
          <a:xfrm>
            <a:off x="696819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3" name="Google Shape;773;p73"/>
          <p:cNvSpPr/>
          <p:nvPr/>
        </p:nvSpPr>
        <p:spPr>
          <a:xfrm>
            <a:off x="2788456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73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910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73"/>
          <p:cNvSpPr txBox="1"/>
          <p:nvPr/>
        </p:nvSpPr>
        <p:spPr>
          <a:xfrm>
            <a:off x="3666758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76" name="Google Shape;776;p73" title="correo-electron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614" y="1793344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73"/>
          <p:cNvSpPr txBox="1"/>
          <p:nvPr/>
        </p:nvSpPr>
        <p:spPr>
          <a:xfrm>
            <a:off x="3666452" y="1823186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8" name="Google Shape;778;p73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486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Open CABA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Barrios priorizados desde 40 a 70 años.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Interesados en salud pública +  interesados en educación + interesados en transporte público.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 apertores al envío de JM. 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9" name="Google Shape;779;p73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0" name="Google Shape;780;p73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1" name="Google Shape;781;p73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782" name="Google Shape;782;p73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783" name="Google Shape;783;p73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73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73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3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73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73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73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73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73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2" name="Google Shape;792;p73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93" name="Google Shape;793;p73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3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5" name="Google Shape;795;p73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3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3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8" name="Google Shape;798;p73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3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0" name="Google Shape;800;p73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801" name="Google Shape;801;p73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802" name="Google Shape;802;p73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3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73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73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73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73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73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73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73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6" name="Google Shape;816;p7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7" name="Google Shape;817;p7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18" name="Google Shape;818;p7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7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7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1" name="Google Shape;821;p74"/>
          <p:cNvSpPr/>
          <p:nvPr/>
        </p:nvSpPr>
        <p:spPr>
          <a:xfrm>
            <a:off x="3755552" y="4423823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22" name="Google Shape;822;p74" title="WhatsApp Video 2026-07-02 at 12.28.1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035" y="1378288"/>
            <a:ext cx="1394375" cy="290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4" title="mobile mockup.png"/>
          <p:cNvPicPr preferRelativeResize="0"/>
          <p:nvPr/>
        </p:nvPicPr>
        <p:blipFill rotWithShape="1">
          <a:blip r:embed="rId5">
            <a:alphaModFix/>
          </a:blip>
          <a:srcRect b="10688" l="36229" r="36958" t="16559"/>
          <a:stretch/>
        </p:blipFill>
        <p:spPr>
          <a:xfrm>
            <a:off x="3777602" y="1114864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9" name="Google Shape;829;p7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" name="Google Shape;830;p7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31" name="Google Shape;831;p7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7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3" name="Google Shape;833;p75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4" name="Google Shape;834;p75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835" name="Google Shape;835;p75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422.461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36" name="Google Shape;836;p75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837" name="Google Shape;837;p75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8" name="Google Shape;838;p75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39" name="Google Shape;839;p75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840" name="Google Shape;840;p7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841" name="Google Shape;841;p7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842" name="Google Shape;842;p75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75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44" name="Google Shape;844;p75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845" name="Google Shape;845;p75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488.151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6" name="Google Shape;846;p75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847" name="Google Shape;847;p75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678.365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8" name="Google Shape;848;p75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9" name="Google Shape;849;p75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0" name="Google Shape;850;p75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851" name="Google Shape;851;p75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1,3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52" name="Google Shape;852;p75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3" name="Google Shape;853;p75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1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implementación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54" name="Google Shape;854;p75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855" name="Google Shape;855;p75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5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5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5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5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5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1" name="Google Shape;861;p75"/>
          <p:cNvSpPr/>
          <p:nvPr/>
        </p:nvSpPr>
        <p:spPr>
          <a:xfrm>
            <a:off x="623129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862" name="Google Shape;862;p75"/>
          <p:cNvSpPr txBox="1"/>
          <p:nvPr/>
        </p:nvSpPr>
        <p:spPr>
          <a:xfrm>
            <a:off x="622665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867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863" name="Google Shape;863;p75"/>
          <p:cNvGrpSpPr/>
          <p:nvPr/>
        </p:nvGrpSpPr>
        <p:grpSpPr>
          <a:xfrm>
            <a:off x="6690362" y="2854285"/>
            <a:ext cx="255544" cy="313352"/>
            <a:chOff x="-2003511" y="3801687"/>
            <a:chExt cx="493805" cy="652953"/>
          </a:xfrm>
        </p:grpSpPr>
        <p:sp>
          <p:nvSpPr>
            <p:cNvPr id="864" name="Google Shape;864;p75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5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5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5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75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75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" name="Google Shape;871;p75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157.968 (37%)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72" name="Google Shape;872;p75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5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4" name="Google Shape;874;p75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5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5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7" name="Google Shape;877;p75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5"/>
          <p:cNvSpPr/>
          <p:nvPr/>
        </p:nvSpPr>
        <p:spPr>
          <a:xfrm>
            <a:off x="621932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79" name="Google Shape;879;p75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880" name="Google Shape;880;p75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75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75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883" name="Google Shape;883;p75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5" name="Google Shape;885;p75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4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1" name="Google Shape;891;p7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" name="Google Shape;892;p7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93" name="Google Shape;893;p7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7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76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6" name="Google Shape;896;p76"/>
          <p:cNvSpPr/>
          <p:nvPr/>
        </p:nvSpPr>
        <p:spPr>
          <a:xfrm>
            <a:off x="237750" y="3707504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25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7" name="Google Shape;897;p76"/>
          <p:cNvSpPr txBox="1"/>
          <p:nvPr/>
        </p:nvSpPr>
        <p:spPr>
          <a:xfrm>
            <a:off x="305875" y="3745436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El mejor desempeño se registró en barrios priorizados (20% OR), mientras que el envío de GCBA a no apertores (26% OR) fue clave para maximizar las aperturas y elevar el rendimiento global de la campaña (37% OR).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8" name="Google Shape;898;p76"/>
          <p:cNvSpPr txBox="1"/>
          <p:nvPr/>
        </p:nvSpPr>
        <p:spPr>
          <a:xfrm>
            <a:off x="292448" y="4972075"/>
            <a:ext cx="3234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lang="es" sz="900">
                <a:solidFill>
                  <a:srgbClr val="123546"/>
                </a:solidFill>
                <a:highlight>
                  <a:srgbClr val="F59E0B"/>
                </a:highlight>
                <a:latin typeface="Archivo"/>
                <a:ea typeface="Archivo"/>
                <a:cs typeface="Archivo"/>
                <a:sym typeface="Archivo"/>
              </a:rPr>
              <a:t>JM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25%  | 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lang="es" sz="900">
                <a:solidFill>
                  <a:srgbClr val="123546"/>
                </a:solidFill>
                <a:highlight>
                  <a:srgbClr val="F59E0B"/>
                </a:highlight>
                <a:latin typeface="Archivo"/>
                <a:ea typeface="Archivo"/>
                <a:cs typeface="Archivo"/>
                <a:sym typeface="Archivo"/>
              </a:rPr>
              <a:t>GCBA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30%</a:t>
            </a:r>
            <a:endParaRPr i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899" name="Google Shape;899;p76"/>
          <p:cNvGraphicFramePr/>
          <p:nvPr/>
        </p:nvGraphicFramePr>
        <p:xfrm>
          <a:off x="357725" y="10894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502875"/>
                <a:gridCol w="515275"/>
                <a:gridCol w="2252550"/>
                <a:gridCol w="917225"/>
                <a:gridCol w="954575"/>
                <a:gridCol w="1058900"/>
                <a:gridCol w="745800"/>
                <a:gridCol w="728375"/>
                <a:gridCol w="752975"/>
              </a:tblGrid>
              <a:tr h="34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JM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priorizados desde 40 a 70 años.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232.131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230.081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45.471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257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5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JM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26/6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Interesados en salud pública +  interesados en educación + interesados en transporte público.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195.771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192.380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22.098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114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1374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GCBA</a:t>
                      </a:r>
                      <a:endParaRPr b="1" sz="1100">
                        <a:solidFill>
                          <a:srgbClr val="11374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 apertores al envío de JM. 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359.382 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354.016 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90.399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26%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655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427.902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422.461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157.968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37%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1.026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86" y="1397575"/>
            <a:ext cx="1943700" cy="3219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05" name="Google Shape;905;p77"/>
          <p:cNvPicPr preferRelativeResize="0"/>
          <p:nvPr/>
        </p:nvPicPr>
        <p:blipFill rotWithShape="1">
          <a:blip r:embed="rId4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7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07" name="Google Shape;907;p77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8" name="Google Shape;908;p77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09" name="Google Shape;909;p7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7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1" name="Google Shape;911;p77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2481375" y="2663699"/>
            <a:ext cx="6597000" cy="23205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Se registró un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43%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28%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repudiando la misma y un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24%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solicitudes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Infraestructura (50%):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Reclamos como mal funcionamiento de subte y subsidio de la misma, falta de lugares para estacionar y caos de tránsito por obras.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Espacio Público e Higiene Urbana (25%)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: Falta de limpieza y arreglo de veredas (barrios más solicitados Caballito y Flores).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Seguridad: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Falta de policías en calle.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13" name="Google Shape;913;p77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198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(43%)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14" name="Google Shape;914;p77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7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5" name="Google Shape;915;p77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sp>
        <p:nvSpPr>
          <p:cNvPr id="916" name="Google Shape;916;p77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No vamos a dejar que paralicen la Ciudad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17" name="Google Shape;917;p77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0,13%</a:t>
            </a:r>
            <a:endParaRPr b="1" sz="977">
              <a:solidFill>
                <a:schemeClr val="lt1"/>
              </a:solidFill>
            </a:endParaRPr>
          </a:p>
        </p:txBody>
      </p:sp>
      <p:sp>
        <p:nvSpPr>
          <p:cNvPr id="918" name="Google Shape;918;p77"/>
          <p:cNvSpPr/>
          <p:nvPr/>
        </p:nvSpPr>
        <p:spPr>
          <a:xfrm>
            <a:off x="8154257" y="667021"/>
            <a:ext cx="852300" cy="343800"/>
          </a:xfrm>
          <a:prstGeom prst="roundRect">
            <a:avLst>
              <a:gd fmla="val 16667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123300" lIns="123300" spcFirstLastPara="1" rIns="123300" wrap="square" tIns="123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JM</a:t>
            </a:r>
            <a:endParaRPr b="1" sz="16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9" name="Google Shape;919;p77"/>
          <p:cNvSpPr/>
          <p:nvPr/>
        </p:nvSpPr>
        <p:spPr>
          <a:xfrm>
            <a:off x="7665475" y="554302"/>
            <a:ext cx="592800" cy="5469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6775" lIns="66775" spcFirstLastPara="1" rIns="66775" wrap="square" tIns="6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pic>
        <p:nvPicPr>
          <p:cNvPr id="920" name="Google Shape;92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7309" y="627018"/>
            <a:ext cx="429600" cy="401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00" y="1347150"/>
            <a:ext cx="1897800" cy="326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26" name="Google Shape;926;p78"/>
          <p:cNvPicPr preferRelativeResize="0"/>
          <p:nvPr/>
        </p:nvPicPr>
        <p:blipFill rotWithShape="1">
          <a:blip r:embed="rId4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8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8" name="Google Shape;928;p78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9" name="Google Shape;929;p78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30" name="Google Shape;930;p7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7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78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3" name="Google Shape;933;p78"/>
          <p:cNvSpPr/>
          <p:nvPr/>
        </p:nvSpPr>
        <p:spPr>
          <a:xfrm>
            <a:off x="2481375" y="2579349"/>
            <a:ext cx="6597000" cy="24051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1" u="sng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registró un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37%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 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repudiando la misma y un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solicitudes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Espacio Público (50%):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Reclaman falta de limpieza  y mala ubicación de contenedores, como también arreglo de veredas.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Justicia (25%)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Reclaman mejoras en los salarios,  derechos del trabajador y gremio de porteros.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Salud (25%):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Solicitan turnos para hospitales.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34" name="Google Shape;934;p78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78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(37%)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(5%)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35" name="Google Shape;935;p78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GCBA</a:t>
            </a:r>
            <a:endParaRPr b="1" sz="15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6" name="Google Shape;936;p78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937" name="Google Shape;937;p78"/>
          <p:cNvPicPr preferRelativeResize="0"/>
          <p:nvPr/>
        </p:nvPicPr>
        <p:blipFill rotWithShape="1">
          <a:blip r:embed="rId5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38" name="Google Shape;938;p78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mínimos obligatorios durante paros gremiales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39" name="Google Shape;939;p78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0,09%</a:t>
            </a:r>
            <a:endParaRPr b="1" sz="97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9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79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0" y="10562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79"/>
          <p:cNvSpPr txBox="1"/>
          <p:nvPr/>
        </p:nvSpPr>
        <p:spPr>
          <a:xfrm>
            <a:off x="53850" y="1779000"/>
            <a:ext cx="95673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4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4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28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i="1" sz="28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948" name="Google Shape;948;p79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9" name="Google Shape;949;p79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0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6" name="Google Shape;956;p80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57" name="Google Shape;957;p8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8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9" name="Google Shape;959;p80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0" name="Google Shape;960;p80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1" name="Google Shape;961;p80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sp>
        <p:nvSpPr>
          <p:cNvPr id="962" name="Google Shape;962;p80"/>
          <p:cNvSpPr/>
          <p:nvPr/>
        </p:nvSpPr>
        <p:spPr>
          <a:xfrm>
            <a:off x="1527300" y="1882895"/>
            <a:ext cx="6089400" cy="14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">
                <a:latin typeface="Archivo"/>
                <a:ea typeface="Archivo"/>
                <a:cs typeface="Archivo"/>
                <a:sym typeface="Archivo"/>
              </a:rPr>
              <a:t>Informar los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programas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actividades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y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servicios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vinculados al movimiento, la inclusión digital, la vida comunitaria y la promoción de derechos de las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personas mayores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.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63" name="Google Shape;963;p80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964" name="Google Shape;964;p8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8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80"/>
          <p:cNvSpPr/>
          <p:nvPr/>
        </p:nvSpPr>
        <p:spPr>
          <a:xfrm>
            <a:off x="1492800" y="3672250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19/06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17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/07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1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81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74" name="Google Shape;974;p81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81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6" name="Google Shape;976;p81"/>
          <p:cNvSpPr txBox="1"/>
          <p:nvPr/>
        </p:nvSpPr>
        <p:spPr>
          <a:xfrm>
            <a:off x="758075" y="533075"/>
            <a:ext cx="67074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330963" y="1409977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8" name="Google Shape;978;p81"/>
          <p:cNvSpPr/>
          <p:nvPr/>
        </p:nvSpPr>
        <p:spPr>
          <a:xfrm>
            <a:off x="2422601" y="1048491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1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9" y="1259869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1"/>
          <p:cNvSpPr txBox="1"/>
          <p:nvPr/>
        </p:nvSpPr>
        <p:spPr>
          <a:xfrm>
            <a:off x="3193297" y="1274083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p81"/>
          <p:cNvSpPr txBox="1"/>
          <p:nvPr/>
        </p:nvSpPr>
        <p:spPr>
          <a:xfrm>
            <a:off x="4969456" y="1274083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2" name="Google Shape;982;p81"/>
          <p:cNvSpPr txBox="1"/>
          <p:nvPr/>
        </p:nvSpPr>
        <p:spPr>
          <a:xfrm>
            <a:off x="3169297" y="1783660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83" name="Google Shape;983;p81"/>
          <p:cNvGrpSpPr/>
          <p:nvPr/>
        </p:nvGrpSpPr>
        <p:grpSpPr>
          <a:xfrm>
            <a:off x="4528956" y="1253827"/>
            <a:ext cx="278967" cy="291012"/>
            <a:chOff x="4996508" y="7413327"/>
            <a:chExt cx="375056" cy="382710"/>
          </a:xfrm>
        </p:grpSpPr>
        <p:sp>
          <p:nvSpPr>
            <p:cNvPr id="984" name="Google Shape;984;p81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81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1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81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8" name="Google Shape;988;p81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590" y="1764585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1" title="correo-electronic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883" y="1764585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1"/>
          <p:cNvSpPr txBox="1"/>
          <p:nvPr/>
        </p:nvSpPr>
        <p:spPr>
          <a:xfrm>
            <a:off x="5005763" y="1783660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1" name="Google Shape;991;p81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78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Adultos mayores de 60 años de toda la Ciudad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2" name="Google Shape;992;p81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Banners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Placa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Placas Demand Gen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3" name="Google Shape;993;p81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4" name="Google Shape;994;p81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995" name="Google Shape;995;p81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996" name="Google Shape;996;p81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81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81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81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81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81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81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81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81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05" name="Google Shape;1005;p81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6" name="Google Shape;1006;p81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81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8" name="Google Shape;1008;p81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1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1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1" name="Google Shape;1011;p81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81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3" name="Google Shape;1013;p81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1014" name="Google Shape;1014;p81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1015" name="Google Shape;1015;p81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1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1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1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1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81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1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1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1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24" name="Google Shape;1024;p81" title="telefon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4025" y="1255008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1"/>
          <p:cNvSpPr txBox="1"/>
          <p:nvPr/>
        </p:nvSpPr>
        <p:spPr>
          <a:xfrm>
            <a:off x="6337771" y="1274083"/>
            <a:ext cx="1561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 (pendiente)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82" title="IMG_5556.png"/>
          <p:cNvPicPr preferRelativeResize="0"/>
          <p:nvPr/>
        </p:nvPicPr>
        <p:blipFill rotWithShape="1">
          <a:blip r:embed="rId3">
            <a:alphaModFix/>
          </a:blip>
          <a:srcRect b="1267" l="0" r="0" t="1267"/>
          <a:stretch/>
        </p:blipFill>
        <p:spPr>
          <a:xfrm>
            <a:off x="857400" y="1094913"/>
            <a:ext cx="1460100" cy="309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31" name="Google Shape;1031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793052" y="1023527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32" name="Google Shape;103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6550" y="1306513"/>
            <a:ext cx="1460100" cy="284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6966041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1034" name="Google Shape;1034;p8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8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37" name="Google Shape;1037;p8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8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0" name="Google Shape;1040;p82"/>
          <p:cNvSpPr/>
          <p:nvPr/>
        </p:nvSpPr>
        <p:spPr>
          <a:xfrm>
            <a:off x="771002" y="4332485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Banners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1" name="Google Shape;1041;p82"/>
          <p:cNvSpPr/>
          <p:nvPr/>
        </p:nvSpPr>
        <p:spPr>
          <a:xfrm>
            <a:off x="4922453" y="4324820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2" name="Google Shape;1042;p82"/>
          <p:cNvSpPr/>
          <p:nvPr/>
        </p:nvSpPr>
        <p:spPr>
          <a:xfrm>
            <a:off x="6943991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3" name="Google Shape;1043;p82"/>
          <p:cNvSpPr/>
          <p:nvPr/>
        </p:nvSpPr>
        <p:spPr>
          <a:xfrm>
            <a:off x="2870140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Placas Demand Gen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44" name="Google Shape;1044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2892190" y="1037836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45" name="Google Shape;1045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5910" y="1337215"/>
            <a:ext cx="1433550" cy="257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2"/>
          <p:cNvSpPr txBox="1"/>
          <p:nvPr/>
        </p:nvSpPr>
        <p:spPr>
          <a:xfrm>
            <a:off x="4922549" y="4305750"/>
            <a:ext cx="16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b="1"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7" name="Google Shape;1047;p82"/>
          <p:cNvSpPr txBox="1"/>
          <p:nvPr/>
        </p:nvSpPr>
        <p:spPr>
          <a:xfrm>
            <a:off x="6966175" y="4305750"/>
            <a:ext cx="15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Placa Meta</a:t>
            </a:r>
            <a:endParaRPr b="1"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48" name="Google Shape;1048;p82" title="Grabación de pantalla 2026-07-02 115959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20647" y="1532242"/>
            <a:ext cx="1433550" cy="239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4944503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50" name="Google Shape;1050;p82" title="placa-final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07650" y="1930125"/>
            <a:ext cx="1362100" cy="11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6" name="Google Shape;1056;p8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7" name="Google Shape;1057;p8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58" name="Google Shape;1058;p8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83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1" name="Google Shape;1061;p83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320.412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63" name="Google Shape;1063;p83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1064" name="Google Shape;1064;p83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5" name="Google Shape;1065;p83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66" name="Google Shape;1066;p83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1067" name="Google Shape;1067;p83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1068" name="Google Shape;1068;p83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1069" name="Google Shape;1069;p83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0" name="Google Shape;1070;p83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71" name="Google Shape;1071;p83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72" name="Google Shape;1072;p83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235.704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3" name="Google Shape;1073;p83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74" name="Google Shape;1074;p83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1.994.817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5" name="Google Shape;1075;p83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6" name="Google Shape;1076;p83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7" name="Google Shape;1077;p83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78" name="Google Shape;1078;p83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8,2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9" name="Google Shape;1079;p83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0" name="Google Shape;1080;p83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3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81" name="Google Shape;1081;p83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1082" name="Google Shape;1082;p83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83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83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83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83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83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8" name="Google Shape;1088;p83"/>
          <p:cNvSpPr/>
          <p:nvPr/>
        </p:nvSpPr>
        <p:spPr>
          <a:xfrm>
            <a:off x="6240784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89" name="Google Shape;1089;p83"/>
          <p:cNvSpPr txBox="1"/>
          <p:nvPr/>
        </p:nvSpPr>
        <p:spPr>
          <a:xfrm>
            <a:off x="6236141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7.411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1090" name="Google Shape;1090;p83"/>
          <p:cNvGrpSpPr/>
          <p:nvPr/>
        </p:nvGrpSpPr>
        <p:grpSpPr>
          <a:xfrm>
            <a:off x="6699847" y="2854285"/>
            <a:ext cx="255544" cy="313352"/>
            <a:chOff x="-2003511" y="3801687"/>
            <a:chExt cx="493805" cy="652953"/>
          </a:xfrm>
        </p:grpSpPr>
        <p:sp>
          <p:nvSpPr>
            <p:cNvPr id="1091" name="Google Shape;1091;p83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83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83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83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3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3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83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8" name="Google Shape;1098;p83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112.066 (35%)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99" name="Google Shape;1099;p83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83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1" name="Google Shape;1101;p83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3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3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83"/>
          <p:cNvSpPr/>
          <p:nvPr/>
        </p:nvSpPr>
        <p:spPr>
          <a:xfrm>
            <a:off x="622880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06" name="Google Shape;1106;p83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1107" name="Google Shape;1107;p83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83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83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1110" name="Google Shape;1110;p83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83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1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implementación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8" name="Google Shape;1118;p8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9" name="Google Shape;1119;p8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20" name="Google Shape;1120;p8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8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23" name="Google Shape;1123;p84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1977250"/>
                <a:gridCol w="983775"/>
                <a:gridCol w="1007025"/>
                <a:gridCol w="1346325"/>
                <a:gridCol w="1175675"/>
                <a:gridCol w="1026325"/>
                <a:gridCol w="892950"/>
              </a:tblGrid>
              <a:tr h="3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235.704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456.652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1,94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3.558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0,78%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0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37.280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2.255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6,05%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1.450.885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1.598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0,11%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29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235.704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1.994.817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8,2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7.411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0,37%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1124" name="Google Shape;1124;p84"/>
          <p:cNvSpPr/>
          <p:nvPr/>
        </p:nvSpPr>
        <p:spPr>
          <a:xfrm>
            <a:off x="256550" y="3829516"/>
            <a:ext cx="8772000" cy="10128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Google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alcanzó la mayor eficiencia del período con un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CTR de 6,05%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(2,5x el benchmark del eje), mientras que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Meta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combinó buen rendimiento y volumen con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0,78% de CTR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Programmatic concentró el 73% de las impresiones, cumpliendo su objetivo de alcance.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25" name="Google Shape;1125;p84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4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4"/>
          <p:cNvSpPr txBox="1"/>
          <p:nvPr/>
        </p:nvSpPr>
        <p:spPr>
          <a:xfrm>
            <a:off x="332800" y="3457542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Desarrollo Humano y Hábitat: Meta 0,48%. Google Ads 2,44%. Programmatic 0,12%.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28" name="Google Shape;112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4" name="Google Shape;1134;p8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5" name="Google Shape;1135;p8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36" name="Google Shape;1136;p8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8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8" name="Google Shape;1138;p85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39" name="Google Shape;113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025" y="1291455"/>
            <a:ext cx="1838400" cy="326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40" name="Google Shape;1140;p85"/>
          <p:cNvSpPr/>
          <p:nvPr/>
        </p:nvSpPr>
        <p:spPr>
          <a:xfrm>
            <a:off x="7134488" y="853530"/>
            <a:ext cx="1637700" cy="389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85125" lIns="85125" spcFirstLastPara="1" rIns="85125" wrap="square" tIns="8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Asunto:</a:t>
            </a:r>
            <a:b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</a:b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y programas para mayores de 60</a:t>
            </a:r>
            <a:endParaRPr sz="775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41" name="Google Shape;1141;p85"/>
          <p:cNvSpPr txBox="1"/>
          <p:nvPr/>
        </p:nvSpPr>
        <p:spPr>
          <a:xfrm>
            <a:off x="4795775" y="1883166"/>
            <a:ext cx="7590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50" lIns="90150" spcFirstLastPara="1" rIns="90150" wrap="square" tIns="90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ECA18"/>
              </a:solidFill>
            </a:endParaRPr>
          </a:p>
        </p:txBody>
      </p:sp>
      <p:pic>
        <p:nvPicPr>
          <p:cNvPr id="1142" name="Google Shape;1142;p85"/>
          <p:cNvPicPr preferRelativeResize="0"/>
          <p:nvPr/>
        </p:nvPicPr>
        <p:blipFill rotWithShape="1">
          <a:blip r:embed="rId4">
            <a:alphaModFix/>
          </a:blip>
          <a:srcRect b="544" l="13489" r="13041" t="544"/>
          <a:stretch/>
        </p:blipFill>
        <p:spPr>
          <a:xfrm>
            <a:off x="6954953" y="1291451"/>
            <a:ext cx="1996784" cy="341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85"/>
          <p:cNvSpPr txBox="1"/>
          <p:nvPr/>
        </p:nvSpPr>
        <p:spPr>
          <a:xfrm>
            <a:off x="218050" y="2699400"/>
            <a:ext cx="6521100" cy="145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54000">
            <a:noAutofit/>
          </a:bodyPr>
          <a:lstStyle/>
          <a:p>
            <a:pPr indent="0" lvl="0" marL="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Insights</a:t>
            </a:r>
            <a:endParaRPr b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3446"/>
              </a:buClr>
              <a:buSzPts val="1200"/>
              <a:buFont typeface="Archivo"/>
              <a:buChar char="●"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Muy buen desempeño en aperturas y clics, demostrando interés en ampliar información sobre los programas.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3446"/>
              </a:buClr>
              <a:buSzPts val="1200"/>
              <a:buFont typeface="Archivo"/>
              <a:buChar char="●"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Las respuestas se concentraron en consultas sobre inscripción y requisitos, junto con solicitudes vinculadas a infraestructura, higiene, salud y cupos para actividades/talleres.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44" name="Google Shape;1144;p85"/>
          <p:cNvGraphicFramePr/>
          <p:nvPr/>
        </p:nvGraphicFramePr>
        <p:xfrm>
          <a:off x="181187" y="1402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691600"/>
                <a:gridCol w="1986850"/>
                <a:gridCol w="740600"/>
                <a:gridCol w="896375"/>
                <a:gridCol w="749450"/>
                <a:gridCol w="477650"/>
                <a:gridCol w="596000"/>
                <a:gridCol w="456350"/>
              </a:tblGrid>
              <a:tr h="53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OR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CTOR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64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23/06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Personas mayores de 60 años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321.439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320.412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112.066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7.332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0" name="Google Shape;1150;p8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1" name="Google Shape;1151;p8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52" name="Google Shape;1152;p8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8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86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5" name="Google Shape;1155;p86"/>
          <p:cNvSpPr/>
          <p:nvPr/>
        </p:nvSpPr>
        <p:spPr>
          <a:xfrm>
            <a:off x="2610375" y="2548300"/>
            <a:ext cx="6396000" cy="25641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72000" lIns="78550" spcFirstLastPara="1" rIns="78550" wrap="square" tIns="216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1" u="sng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registró un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27%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11%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repudiando la misma,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informativas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consultado sobre los programas y servicios, como también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solicitudes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Espacio Público (50%):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Reclaman falta luminarias por poda, arreglo de veredas y falta de presencia de barrenderos.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Infraestructura (25%)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Reclaman mejoras en subte y subsidio del mismo.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Salud (25%):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Solicitan turnos para hospitales y vacunas principalmente sobre Dengue.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56" name="Google Shape;1156;p86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{0AD263F0-7F53-42A5-9574-EA586D39742B}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3032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130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39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29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(27%)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(30%)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1157" name="Google Shape;1157;p86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GCBA</a:t>
            </a:r>
            <a:endParaRPr b="1" sz="15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8" name="Google Shape;1158;p86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1159" name="Google Shape;1159;p86"/>
          <p:cNvPicPr preferRelativeResize="0"/>
          <p:nvPr/>
        </p:nvPicPr>
        <p:blipFill rotWithShape="1">
          <a:blip r:embed="rId3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0" name="Google Shape;1160;p86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0,11%</a:t>
            </a:r>
            <a:endParaRPr b="1" sz="977">
              <a:solidFill>
                <a:schemeClr val="lt1"/>
              </a:solidFill>
            </a:endParaRPr>
          </a:p>
        </p:txBody>
      </p:sp>
      <p:pic>
        <p:nvPicPr>
          <p:cNvPr id="1161" name="Google Shape;116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25" y="1424630"/>
            <a:ext cx="1838400" cy="326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62" name="Google Shape;1162;p86"/>
          <p:cNvSpPr/>
          <p:nvPr/>
        </p:nvSpPr>
        <p:spPr>
          <a:xfrm>
            <a:off x="471988" y="986705"/>
            <a:ext cx="1637700" cy="389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85125" lIns="85125" spcFirstLastPara="1" rIns="85125" wrap="square" tIns="8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Asunto:</a:t>
            </a:r>
            <a:b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</a:b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y programas para mayores de 60</a:t>
            </a:r>
            <a:endParaRPr sz="775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1163" name="Google Shape;1163;p86"/>
          <p:cNvPicPr preferRelativeResize="0"/>
          <p:nvPr/>
        </p:nvPicPr>
        <p:blipFill rotWithShape="1">
          <a:blip r:embed="rId5">
            <a:alphaModFix/>
          </a:blip>
          <a:srcRect b="544" l="13489" r="13041" t="544"/>
          <a:stretch/>
        </p:blipFill>
        <p:spPr>
          <a:xfrm>
            <a:off x="292453" y="1424626"/>
            <a:ext cx="1996784" cy="341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3C3B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8" name="Google Shape;116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372" y="0"/>
            <a:ext cx="476660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7"/>
          <p:cNvPicPr preferRelativeResize="0"/>
          <p:nvPr/>
        </p:nvPicPr>
        <p:blipFill rotWithShape="1">
          <a:blip r:embed="rId3">
            <a:alphaModFix/>
          </a:blip>
          <a:srcRect b="0" l="0" r="-8613" t="0"/>
          <a:stretch/>
        </p:blipFill>
        <p:spPr>
          <a:xfrm>
            <a:off x="4805200" y="-14000"/>
            <a:ext cx="4719800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87"/>
          <p:cNvGrpSpPr/>
          <p:nvPr/>
        </p:nvGrpSpPr>
        <p:grpSpPr>
          <a:xfrm>
            <a:off x="-16575" y="88"/>
            <a:ext cx="4958874" cy="5143320"/>
            <a:chOff x="-4350" y="-25"/>
            <a:chExt cx="4648799" cy="5143320"/>
          </a:xfrm>
        </p:grpSpPr>
        <p:sp>
          <p:nvSpPr>
            <p:cNvPr id="1171" name="Google Shape;1171;p8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8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87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7"/>
          <p:cNvSpPr/>
          <p:nvPr/>
        </p:nvSpPr>
        <p:spPr>
          <a:xfrm rot="5400000">
            <a:off x="742450" y="3643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7"/>
          <p:cNvSpPr txBox="1"/>
          <p:nvPr/>
        </p:nvSpPr>
        <p:spPr>
          <a:xfrm>
            <a:off x="592154" y="2052856"/>
            <a:ext cx="4075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b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datos</a:t>
            </a:r>
            <a:endParaRPr b="1" sz="4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6" name="Google Shape;1176;p87"/>
          <p:cNvSpPr txBox="1"/>
          <p:nvPr/>
        </p:nvSpPr>
        <p:spPr>
          <a:xfrm>
            <a:off x="592154" y="16554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INFORME SEMANAL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1177" name="Google Shape;1177;p87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178" name="Google Shape;1178;p87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179" name="Google Shape;1179;p87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87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87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87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87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87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87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87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87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87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87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87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87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87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87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87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87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87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7" name="Google Shape;1197;p87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198" name="Google Shape;1198;p87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87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87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87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87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3" name="Google Shape;1203;p87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204" name="Google Shape;1204;p87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87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87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87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87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87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87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87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87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87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87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87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87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87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87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87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87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87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87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87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87"/>
          <p:cNvSpPr/>
          <p:nvPr/>
        </p:nvSpPr>
        <p:spPr>
          <a:xfrm rot="10800000">
            <a:off x="8618726" y="-15560"/>
            <a:ext cx="532199" cy="5158935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87"/>
          <p:cNvSpPr/>
          <p:nvPr/>
        </p:nvSpPr>
        <p:spPr>
          <a:xfrm>
            <a:off x="592149" y="909950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8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31" name="Google Shape;1231;p88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232" name="Google Shape;1232;p88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{761797B2-B567-4A5B-A9A2-514067C3A936}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3" name="Google Shape;1233;p88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8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5" name="Google Shape;1235;p88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236" name="Google Shape;1236;p88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8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8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9" name="Google Shape;1239;p88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240" name="Google Shape;1240;p88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88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2" name="Google Shape;1242;p88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95%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3" name="Google Shape;1243;p88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4" name="Google Shape;1244;p88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5" name="Google Shape;1245;p88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6" name="Google Shape;1246;p88"/>
          <p:cNvSpPr/>
          <p:nvPr/>
        </p:nvSpPr>
        <p:spPr>
          <a:xfrm>
            <a:off x="333926" y="2827091"/>
            <a:ext cx="5072700" cy="11508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Respecto de la semana pasada, se registra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punto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general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None/>
            </a:pPr>
            <a:r>
              <a:t/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7" name="Google Shape;1247;p88"/>
          <p:cNvSpPr/>
          <p:nvPr/>
        </p:nvSpPr>
        <p:spPr>
          <a:xfrm>
            <a:off x="333850" y="2801725"/>
            <a:ext cx="50727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8" name="Google Shape;1248;p88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8.813 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Medio)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4.7M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usuarios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influencers y políticos liberales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involucraron en la conversación realizando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críticas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 ley de salud mental.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9" name="Google Shape;1249;p88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difusión de video de un hombre agrediendo a una niña en Palermo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50" name="Google Shape;1250;p88" title="Puntuación lograda"/>
          <p:cNvPicPr preferRelativeResize="0"/>
          <p:nvPr/>
        </p:nvPicPr>
        <p:blipFill rotWithShape="1">
          <a:blip r:embed="rId3">
            <a:alphaModFix/>
          </a:blip>
          <a:srcRect b="6580" l="2575" r="4807" t="4499"/>
          <a:stretch/>
        </p:blipFill>
        <p:spPr>
          <a:xfrm>
            <a:off x="5675125" y="1388622"/>
            <a:ext cx="2972796" cy="193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8"/>
          <p:cNvSpPr txBox="1"/>
          <p:nvPr/>
        </p:nvSpPr>
        <p:spPr>
          <a:xfrm>
            <a:off x="6516945" y="314005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2" name="Google Shape;1252;p88"/>
          <p:cNvSpPr txBox="1"/>
          <p:nvPr/>
        </p:nvSpPr>
        <p:spPr>
          <a:xfrm>
            <a:off x="6539400" y="295148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3" name="Google Shape;1253;p88"/>
          <p:cNvSpPr txBox="1"/>
          <p:nvPr/>
        </p:nvSpPr>
        <p:spPr>
          <a:xfrm>
            <a:off x="6539400" y="2762899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4" name="Google Shape;1254;p88"/>
          <p:cNvSpPr txBox="1"/>
          <p:nvPr/>
        </p:nvSpPr>
        <p:spPr>
          <a:xfrm>
            <a:off x="6539400" y="257335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5" name="Google Shape;1255;p88"/>
          <p:cNvSpPr txBox="1"/>
          <p:nvPr/>
        </p:nvSpPr>
        <p:spPr>
          <a:xfrm>
            <a:off x="6630366" y="238514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6" name="Google Shape;1256;p88"/>
          <p:cNvSpPr txBox="1"/>
          <p:nvPr/>
        </p:nvSpPr>
        <p:spPr>
          <a:xfrm>
            <a:off x="6689076" y="219021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7" name="Google Shape;1257;p88"/>
          <p:cNvSpPr txBox="1"/>
          <p:nvPr/>
        </p:nvSpPr>
        <p:spPr>
          <a:xfrm>
            <a:off x="6892890" y="199529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8" name="Google Shape;1258;p88"/>
          <p:cNvSpPr txBox="1"/>
          <p:nvPr/>
        </p:nvSpPr>
        <p:spPr>
          <a:xfrm>
            <a:off x="7892399" y="1806625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9" name="Google Shape;1259;p88"/>
          <p:cNvSpPr txBox="1"/>
          <p:nvPr/>
        </p:nvSpPr>
        <p:spPr>
          <a:xfrm>
            <a:off x="8156164" y="162986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0" name="Google Shape;1260;p88"/>
          <p:cNvSpPr txBox="1"/>
          <p:nvPr/>
        </p:nvSpPr>
        <p:spPr>
          <a:xfrm>
            <a:off x="8456054" y="1433512"/>
            <a:ext cx="2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1" name="Google Shape;1261;p88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2" name="Google Shape;1262;p88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263" name="Google Shape;1263;p88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{761797B2-B567-4A5B-A9A2-514067C3A936}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84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94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4" name="Google Shape;1264;p88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8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6" name="Google Shape;1266;p88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267" name="Google Shape;1267;p88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88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8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88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271" name="Google Shape;1271;p88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88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3" name="Google Shape;1273;p88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94%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4" name="Google Shape;1274;p88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5" name="Google Shape;1275;p88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6" name="Google Shape;1276;p88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</a:t>
            </a: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temáticas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7" name="Google Shape;1277;p88"/>
          <p:cNvSpPr/>
          <p:nvPr/>
        </p:nvSpPr>
        <p:spPr>
          <a:xfrm>
            <a:off x="333926" y="2827091"/>
            <a:ext cx="5072700" cy="20043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aumentó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10 puntos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respecto de la semana pasada. 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8DED4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anuncio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banco de ADN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delincuentes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concentró la conversación con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mayor positividad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 semana, impulsada por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políticos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5"/>
              </a:rPr>
              <a:t>periodistas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6"/>
              </a:rPr>
              <a:t>influencers afines al PRO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8" name="Google Shape;1278;p88"/>
          <p:cNvSpPr/>
          <p:nvPr/>
        </p:nvSpPr>
        <p:spPr>
          <a:xfrm>
            <a:off x="333850" y="2801725"/>
            <a:ext cx="50727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9" name="Google Shape;1279;p88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1.076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Bajo)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171K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Bajo).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Tanto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conversación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posteo de JM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registran un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sentiment ampliamente positivo,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alcanzando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95%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92%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respectivamente.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80" name="Google Shape;1280;p88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el lanzamiento de medidas para estacionamientos falsos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81" name="Google Shape;1281;p88" title="Puntuación lograda"/>
          <p:cNvPicPr preferRelativeResize="0"/>
          <p:nvPr/>
        </p:nvPicPr>
        <p:blipFill rotWithShape="1">
          <a:blip r:embed="rId3">
            <a:alphaModFix/>
          </a:blip>
          <a:srcRect b="6580" l="2575" r="4807" t="4499"/>
          <a:stretch/>
        </p:blipFill>
        <p:spPr>
          <a:xfrm>
            <a:off x="5675125" y="1388622"/>
            <a:ext cx="2972796" cy="19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5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89"/>
          <p:cNvSpPr txBox="1"/>
          <p:nvPr/>
        </p:nvSpPr>
        <p:spPr>
          <a:xfrm>
            <a:off x="616050" y="2144625"/>
            <a:ext cx="79119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endParaRPr b="1" sz="429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29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89"/>
          <p:cNvSpPr/>
          <p:nvPr/>
        </p:nvSpPr>
        <p:spPr>
          <a:xfrm>
            <a:off x="4374750" y="3549663"/>
            <a:ext cx="394500" cy="15600"/>
          </a:xfrm>
          <a:prstGeom prst="roundRect">
            <a:avLst>
              <a:gd fmla="val 50000" name="adj"/>
            </a:avLst>
          </a:prstGeom>
          <a:solidFill>
            <a:srgbClr val="42677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89"/>
          <p:cNvSpPr/>
          <p:nvPr/>
        </p:nvSpPr>
        <p:spPr>
          <a:xfrm rot="-5400000">
            <a:off x="4479849" y="2256264"/>
            <a:ext cx="184301" cy="559017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89"/>
          <p:cNvSpPr/>
          <p:nvPr/>
        </p:nvSpPr>
        <p:spPr>
          <a:xfrm>
            <a:off x="4268949" y="130382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89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291" name="Google Shape;1291;p89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292" name="Google Shape;1292;p89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89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89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89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89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89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89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89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89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89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89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89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89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89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89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89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89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89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0" name="Google Shape;1310;p89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311" name="Google Shape;1311;p89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89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89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89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89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6" name="Google Shape;1316;p89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317" name="Google Shape;1317;p89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89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89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89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89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89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89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89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89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89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89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89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89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89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89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89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89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89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89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89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